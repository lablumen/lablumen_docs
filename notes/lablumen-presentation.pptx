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1" name="s501"/>
          <p:cNvSpPr>
            <a:spLocks noGrp="1"/>
          </p:cNvSpPr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0E1A46"/>
          </a:solidFill>
          <a:ln>
            <a:noFill/>
          </a:ln>
        </p:spPr>
        <p:txBody>
          <a:bodyPr/>
          <a:lstStyle/>
          <a:p/>
        </p:txBody>
      </p:sp>
      <p:sp>
        <p:nvSpPr>
          <p:cNvPr id="502" name="s502"/>
          <p:cNvSpPr>
            <a:spLocks noGrp="1"/>
          </p:cNvSpPr>
          <p:nvPr/>
        </p:nvSpPr>
        <p:spPr>
          <a:xfrm>
            <a:off x="0" y="2103120"/>
            <a:ext cx="73152" cy="2743200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3" name="s503"/>
          <p:cNvSpPr>
            <a:spLocks noGrp="1"/>
          </p:cNvSpPr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9114"/>
          </a:solidFill>
          <a:ln>
            <a:noFill/>
          </a:ln>
        </p:spPr>
        <p:txBody>
          <a:bodyPr/>
          <a:lstStyle/>
          <a:p/>
        </p:txBody>
      </p:sp>
      <p:sp>
        <p:nvSpPr>
          <p:cNvPr id="504" name="TextBox 503"/>
          <p:cNvSpPr txBox="1"/>
          <p:nvPr/>
        </p:nvSpPr>
        <p:spPr>
          <a:xfrm>
            <a:off x="914400" y="2240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LabLumen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914400" y="3566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ACA2"/>
                </a:solidFill>
                <a:latin typeface="Calibri"/>
              </a:rPr>
              <a:t>Cloud Native Microservices Platform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7E8"/>
                </a:solidFill>
                <a:latin typeface="Calibri"/>
              </a:rPr>
              <a:t>AWS EKS   |   Terraform   |   ArgoCD   |   GitHub Actions</a:t>
            </a:r>
          </a:p>
        </p:txBody>
      </p:sp>
      <p:sp>
        <p:nvSpPr>
          <p:cNvPr id="504" name="s504"/>
          <p:cNvSpPr>
            <a:spLocks noGrp="1"/>
          </p:cNvSpPr>
          <p:nvPr/>
        </p:nvSpPr>
        <p:spPr>
          <a:xfrm>
            <a:off x="914400" y="4800600"/>
            <a:ext cx="4114800" cy="27432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7" name="TextBox 506"/>
          <p:cNvSpPr txBox="1"/>
          <p:nvPr/>
        </p:nvSpPr>
        <p:spPr>
          <a:xfrm>
            <a:off x="914400" y="4892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296BE"/>
                </a:solidFill>
                <a:latin typeface="Calibri"/>
              </a:rPr>
              <a:t>Raphel M L   |   DevOps Capstone Review   | 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5" name="s505"/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6" name="s506"/>
          <p:cNvSpPr>
            <a:spLocks noGrp="1"/>
          </p:cNvSpPr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06E6B"/>
          </a:solidFill>
          <a:ln>
            <a:noFill/>
          </a:ln>
        </p:spPr>
        <p:txBody>
          <a:bodyPr/>
          <a:lstStyle/>
          <a:p/>
        </p:txBody>
      </p:sp>
      <p:sp>
        <p:nvSpPr>
          <p:cNvPr id="507" name="TextBox 506"/>
          <p:cNvSpPr txBox="1"/>
          <p:nvPr/>
        </p:nvSpPr>
        <p:spPr>
          <a:xfrm>
            <a:off x="32004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07" name="s507"/>
          <p:cNvSpPr>
            <a:spLocks noGrp="1"/>
          </p:cNvSpPr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80E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8" name="TextBox 507"/>
          <p:cNvSpPr txBox="1"/>
          <p:nvPr/>
        </p:nvSpPr>
        <p:spPr>
          <a:xfrm>
            <a:off x="32004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65F91"/>
                </a:solidFill>
                <a:latin typeface="Calibri"/>
              </a:rPr>
              <a:t>LabLumen  |  Cloud Native Microservices Platform  |  DevOps Capstone 2026</a:t>
            </a:r>
          </a:p>
        </p:txBody>
      </p:sp>
      <p:sp>
        <p:nvSpPr>
          <p:cNvPr id="508" name="s508"/>
          <p:cNvSpPr>
            <a:spLocks noGrp="1"/>
          </p:cNvSpPr>
          <p:nvPr/>
        </p:nvSpPr>
        <p:spPr>
          <a:xfrm>
            <a:off x="320040" y="1170432"/>
            <a:ext cx="5577840" cy="150876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09" name="TextBox 508"/>
          <p:cNvSpPr txBox="1"/>
          <p:nvPr/>
        </p:nvSpPr>
        <p:spPr>
          <a:xfrm>
            <a:off x="457200" y="128016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ACA2"/>
                </a:solidFill>
                <a:latin typeface="Calibri"/>
              </a:rPr>
              <a:t>01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1280160" y="130759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The Application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1280160" y="176479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DD7E8"/>
                </a:solidFill>
                <a:latin typeface="Calibri"/>
              </a:rPr>
              <a:t>Services, Tech Stack, Event-Driven Architecture</a:t>
            </a:r>
          </a:p>
        </p:txBody>
      </p:sp>
      <p:sp>
        <p:nvSpPr>
          <p:cNvPr id="509" name="s509"/>
          <p:cNvSpPr>
            <a:spLocks noGrp="1"/>
          </p:cNvSpPr>
          <p:nvPr/>
        </p:nvSpPr>
        <p:spPr>
          <a:xfrm>
            <a:off x="6217920" y="1170432"/>
            <a:ext cx="5577840" cy="150876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12" name="TextBox 511"/>
          <p:cNvSpPr txBox="1"/>
          <p:nvPr/>
        </p:nvSpPr>
        <p:spPr>
          <a:xfrm>
            <a:off x="6355080" y="128016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ACA2"/>
                </a:solidFill>
                <a:latin typeface="Calibri"/>
              </a:rPr>
              <a:t>02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7178040" y="130759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Cloud Infrastructure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7178040" y="176479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DD7E8"/>
                </a:solidFill>
                <a:latin typeface="Calibri"/>
              </a:rPr>
              <a:t>AWS Services, Architecture Overview</a:t>
            </a:r>
          </a:p>
        </p:txBody>
      </p:sp>
      <p:sp>
        <p:nvSpPr>
          <p:cNvPr id="510" name="s510"/>
          <p:cNvSpPr>
            <a:spLocks noGrp="1"/>
          </p:cNvSpPr>
          <p:nvPr/>
        </p:nvSpPr>
        <p:spPr>
          <a:xfrm>
            <a:off x="320040" y="2862072"/>
            <a:ext cx="5577840" cy="150876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15" name="TextBox 514"/>
          <p:cNvSpPr txBox="1"/>
          <p:nvPr/>
        </p:nvSpPr>
        <p:spPr>
          <a:xfrm>
            <a:off x="457200" y="29718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ACA2"/>
                </a:solidFill>
                <a:latin typeface="Calibri"/>
              </a:rPr>
              <a:t>03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1280160" y="29992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Terraform — IaC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1280160" y="345643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DD7E8"/>
                </a:solidFill>
                <a:latin typeface="Calibri"/>
              </a:rPr>
              <a:t>Modules, State Management, Pipelines</a:t>
            </a:r>
          </a:p>
        </p:txBody>
      </p:sp>
      <p:sp>
        <p:nvSpPr>
          <p:cNvPr id="511" name="s511"/>
          <p:cNvSpPr>
            <a:spLocks noGrp="1"/>
          </p:cNvSpPr>
          <p:nvPr/>
        </p:nvSpPr>
        <p:spPr>
          <a:xfrm>
            <a:off x="6217920" y="2862072"/>
            <a:ext cx="5577840" cy="150876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18" name="TextBox 517"/>
          <p:cNvSpPr txBox="1"/>
          <p:nvPr/>
        </p:nvSpPr>
        <p:spPr>
          <a:xfrm>
            <a:off x="6355080" y="29718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ACA2"/>
                </a:solidFill>
                <a:latin typeface="Calibri"/>
              </a:rPr>
              <a:t>04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7178040" y="29992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Kubernetes on EKS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7178040" y="345643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DD7E8"/>
                </a:solidFill>
                <a:latin typeface="Calibri"/>
              </a:rPr>
              <a:t>Namespaces, ArgoCD, Karpenter, Grafana</a:t>
            </a:r>
          </a:p>
        </p:txBody>
      </p:sp>
      <p:sp>
        <p:nvSpPr>
          <p:cNvPr id="512" name="s512"/>
          <p:cNvSpPr>
            <a:spLocks noGrp="1"/>
          </p:cNvSpPr>
          <p:nvPr/>
        </p:nvSpPr>
        <p:spPr>
          <a:xfrm>
            <a:off x="320040" y="4553712"/>
            <a:ext cx="5577840" cy="150876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21" name="TextBox 520"/>
          <p:cNvSpPr txBox="1"/>
          <p:nvPr/>
        </p:nvSpPr>
        <p:spPr>
          <a:xfrm>
            <a:off x="457200" y="46634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ACA2"/>
                </a:solidFill>
                <a:latin typeface="Calibri"/>
              </a:rPr>
              <a:t>05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1280160" y="469087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GitHub Actions — CI/CD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1280160" y="514807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DD7E8"/>
                </a:solidFill>
                <a:latin typeface="Calibri"/>
              </a:rPr>
              <a:t>Branching Strategy, Security Gates, Pipelines</a:t>
            </a:r>
          </a:p>
        </p:txBody>
      </p:sp>
      <p:sp>
        <p:nvSpPr>
          <p:cNvPr id="513" name="s513"/>
          <p:cNvSpPr>
            <a:spLocks noGrp="1"/>
          </p:cNvSpPr>
          <p:nvPr/>
        </p:nvSpPr>
        <p:spPr>
          <a:xfrm>
            <a:off x="6217920" y="4553712"/>
            <a:ext cx="5577840" cy="150876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24" name="TextBox 523"/>
          <p:cNvSpPr txBox="1"/>
          <p:nvPr/>
        </p:nvSpPr>
        <p:spPr>
          <a:xfrm>
            <a:off x="6355080" y="46634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ACA2"/>
                </a:solidFill>
                <a:latin typeface="Calibri"/>
              </a:rPr>
              <a:t>06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7178040" y="469087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Security &amp; Results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7178040" y="514807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DD7E8"/>
                </a:solidFill>
                <a:latin typeface="Calibri"/>
              </a:rPr>
              <a:t>Zero static credentials, what was achieved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E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4" name="s514"/>
          <p:cNvSpPr>
            <a:spLocks noGrp="1"/>
          </p:cNvSpPr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9114"/>
          </a:solidFill>
          <a:ln>
            <a:noFill/>
          </a:ln>
        </p:spPr>
        <p:txBody>
          <a:bodyPr/>
          <a:lstStyle/>
          <a:p/>
        </p:txBody>
      </p:sp>
      <p:sp>
        <p:nvSpPr>
          <p:cNvPr id="515" name="TextBox 514"/>
          <p:cNvSpPr txBox="1"/>
          <p:nvPr/>
        </p:nvSpPr>
        <p:spPr>
          <a:xfrm>
            <a:off x="457200" y="8229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005A57"/>
                </a:solidFill>
                <a:latin typeface="Calibri"/>
              </a:rPr>
              <a:t>01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502920" y="24688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Application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502920" y="4251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3EEEA"/>
                </a:solidFill>
                <a:latin typeface="Calibri"/>
              </a:rPr>
              <a:t>Microservices  |  Tech Stack  |  Event-Driven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5" name="s515"/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6" name="s516"/>
          <p:cNvSpPr>
            <a:spLocks noGrp="1"/>
          </p:cNvSpPr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06E6B"/>
          </a:solidFill>
          <a:ln>
            <a:noFill/>
          </a:ln>
        </p:spPr>
        <p:txBody>
          <a:bodyPr/>
          <a:lstStyle/>
          <a:p/>
        </p:txBody>
      </p:sp>
      <p:sp>
        <p:nvSpPr>
          <p:cNvPr id="517" name="TextBox 516"/>
          <p:cNvSpPr txBox="1"/>
          <p:nvPr/>
        </p:nvSpPr>
        <p:spPr>
          <a:xfrm>
            <a:off x="32004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Project Overview — What is LabLumen?</a:t>
            </a:r>
          </a:p>
        </p:txBody>
      </p:sp>
      <p:sp>
        <p:nvSpPr>
          <p:cNvPr id="517" name="s517"/>
          <p:cNvSpPr>
            <a:spLocks noGrp="1"/>
          </p:cNvSpPr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80E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18" name="TextBox 517"/>
          <p:cNvSpPr txBox="1"/>
          <p:nvPr/>
        </p:nvSpPr>
        <p:spPr>
          <a:xfrm>
            <a:off x="32004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65F91"/>
                </a:solidFill>
                <a:latin typeface="Calibri"/>
              </a:rPr>
              <a:t>LabLumen  |  Cloud Native Microservices Platform  |  DevOps Capstone 2026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320040" y="1170432"/>
            <a:ext cx="5623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150" b="0">
                <a:solidFill>
                  <a:srgbClr val="CDD7E8"/>
                </a:solidFill>
                <a:latin typeface="Calibri"/>
              </a:rPr>
              <a:t>▶  Cloud-native laboratory platform — patients book lab tests, staff manage workflows, AI generates report summaries</a:t>
            </a:r>
          </a:p>
          <a:p>
            <a:pPr algn="l">
              <a:spcBef>
                <a:spcPts val="600"/>
              </a:spcBef>
            </a:pPr>
            <a:r>
              <a:rPr sz="1150" b="0">
                <a:solidFill>
                  <a:srgbClr val="CDD7E8"/>
                </a:solidFill>
                <a:latin typeface="Calibri"/>
              </a:rPr>
              <a:t>▶  Built as independent microservices following 12-factor app principles</a:t>
            </a:r>
          </a:p>
          <a:p>
            <a:pPr algn="l">
              <a:spcBef>
                <a:spcPts val="600"/>
              </a:spcBef>
            </a:pPr>
            <a:r>
              <a:rPr sz="1150" b="0">
                <a:solidFill>
                  <a:srgbClr val="CDD7E8"/>
                </a:solidFill>
                <a:latin typeface="Calibri"/>
              </a:rPr>
              <a:t>▶  Full DevOps lifecycle:  IaC provisioning  →  containerised deploy  →  GitOps CD  →  observability</a:t>
            </a:r>
          </a:p>
          <a:p>
            <a:pPr algn="l">
              <a:spcBef>
                <a:spcPts val="600"/>
              </a:spcBef>
            </a:pPr>
            <a:r>
              <a:rPr sz="1150" b="0">
                <a:solidFill>
                  <a:srgbClr val="CDD7E8"/>
                </a:solidFill>
                <a:latin typeface="Calibri"/>
              </a:rPr>
              <a:t>▶  Two environments on a single EKS cluster:</a:t>
            </a:r>
          </a:p>
          <a:p>
            <a:pPr algn="l">
              <a:spcBef>
                <a:spcPts val="600"/>
              </a:spcBef>
            </a:pPr>
            <a:r>
              <a:rPr sz="1150" b="0">
                <a:solidFill>
                  <a:srgbClr val="AAB9D2"/>
                </a:solidFill>
                <a:latin typeface="Calibri"/>
              </a:rPr>
              <a:t>    •  api-dev.rnld101.xyz   →   lablumen-dev namespace  (dev)</a:t>
            </a:r>
          </a:p>
          <a:p>
            <a:pPr algn="l">
              <a:spcBef>
                <a:spcPts val="600"/>
              </a:spcBef>
            </a:pPr>
            <a:r>
              <a:rPr sz="1150" b="0">
                <a:solidFill>
                  <a:srgbClr val="AAB9D2"/>
                </a:solidFill>
                <a:latin typeface="Calibri"/>
              </a:rPr>
              <a:t>    •  api.rnld101.xyz          →   lablumen namespace      (prod)</a:t>
            </a:r>
          </a:p>
          <a:p>
            <a:pPr algn="l">
              <a:spcBef>
                <a:spcPts val="600"/>
              </a:spcBef>
            </a:pPr>
            <a:r>
              <a:rPr sz="1150" b="0">
                <a:solidFill>
                  <a:srgbClr val="CDD7E8"/>
                </a:solidFill>
                <a:latin typeface="Calibri"/>
              </a:rPr>
              <a:t>▶  Auth: AWS Cognito (SRP flow) — separate patient &amp; staff roles</a:t>
            </a:r>
          </a:p>
          <a:p>
            <a:pPr algn="l">
              <a:spcBef>
                <a:spcPts val="600"/>
              </a:spcBef>
            </a:pPr>
            <a:r>
              <a:rPr sz="1150" b="0">
                <a:solidFill>
                  <a:srgbClr val="CDD7E8"/>
                </a:solidFill>
                <a:latin typeface="Calibri"/>
              </a:rPr>
              <a:t>▶  Frontend SPA hosted on S3 + CloudFront at app.rnld101.xyz</a:t>
            </a:r>
          </a:p>
        </p:txBody>
      </p:sp>
      <p:sp>
        <p:nvSpPr>
          <p:cNvPr id="518" name="s518"/>
          <p:cNvSpPr>
            <a:spLocks noGrp="1"/>
          </p:cNvSpPr>
          <p:nvPr/>
        </p:nvSpPr>
        <p:spPr>
          <a:xfrm>
            <a:off x="6080760" y="1170432"/>
            <a:ext cx="5806440" cy="256032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19" name="s519"/>
          <p:cNvSpPr>
            <a:spLocks noGrp="1"/>
          </p:cNvSpPr>
          <p:nvPr/>
        </p:nvSpPr>
        <p:spPr>
          <a:xfrm>
            <a:off x="6080760" y="1170432"/>
            <a:ext cx="580644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20" name="TextBox 519"/>
          <p:cNvSpPr txBox="1"/>
          <p:nvPr/>
        </p:nvSpPr>
        <p:spPr>
          <a:xfrm>
            <a:off x="6190488" y="1243584"/>
            <a:ext cx="5586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Capstone Evaluation Pillars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6217920" y="1581912"/>
            <a:ext cx="5532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100" b="0">
                <a:solidFill>
                  <a:srgbClr val="32C85A"/>
                </a:solidFill>
                <a:latin typeface="Calibri"/>
              </a:rPr>
              <a:t>✔  Infrastructure as Code (Terraform)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32C85A"/>
                </a:solidFill>
                <a:latin typeface="Calibri"/>
              </a:rPr>
              <a:t>✔  Kubernetes Deployment (EKS)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32C85A"/>
                </a:solidFill>
                <a:latin typeface="Calibri"/>
              </a:rPr>
              <a:t>✔  CI/CD Pipelines (GitHub Actions)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32C85A"/>
                </a:solidFill>
                <a:latin typeface="Calibri"/>
              </a:rPr>
              <a:t>✔  Cloud Integration (IRSA, no static keys)</a:t>
            </a:r>
          </a:p>
        </p:txBody>
      </p:sp>
      <p:sp>
        <p:nvSpPr>
          <p:cNvPr id="520" name="s520"/>
          <p:cNvSpPr>
            <a:spLocks noGrp="1"/>
          </p:cNvSpPr>
          <p:nvPr/>
        </p:nvSpPr>
        <p:spPr>
          <a:xfrm>
            <a:off x="6080760" y="3867912"/>
            <a:ext cx="5806440" cy="260604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21" name="s521"/>
          <p:cNvSpPr>
            <a:spLocks noGrp="1"/>
          </p:cNvSpPr>
          <p:nvPr/>
        </p:nvSpPr>
        <p:spPr>
          <a:xfrm>
            <a:off x="6080760" y="3867912"/>
            <a:ext cx="580644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22" name="TextBox 521"/>
          <p:cNvSpPr txBox="1"/>
          <p:nvPr/>
        </p:nvSpPr>
        <p:spPr>
          <a:xfrm>
            <a:off x="6190488" y="3941064"/>
            <a:ext cx="5586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Bonus Pillars Achieved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6217920" y="4279392"/>
            <a:ext cx="5532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100" b="0">
                <a:solidFill>
                  <a:srgbClr val="FF9114"/>
                </a:solidFill>
                <a:latin typeface="Calibri"/>
              </a:rPr>
              <a:t>★  ArgoCD GitOps Deployment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FF9114"/>
                </a:solidFill>
                <a:latin typeface="Calibri"/>
              </a:rPr>
              <a:t>★  AI/ML Integration (Bedrock + Textract)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FF9114"/>
                </a:solidFill>
                <a:latin typeface="Calibri"/>
              </a:rPr>
              <a:t>★  Prometheus + Grafana Monitoring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FF9114"/>
                </a:solidFill>
                <a:latin typeface="Calibri"/>
              </a:rPr>
              <a:t>★  Event-Driven Architecture (SQS)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FF9114"/>
                </a:solidFill>
                <a:latin typeface="Calibri"/>
              </a:rPr>
              <a:t>★  Infracost Cost Estimation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22" name="s522"/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23" name="s523"/>
          <p:cNvSpPr>
            <a:spLocks noGrp="1"/>
          </p:cNvSpPr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06E6B"/>
          </a:solidFill>
          <a:ln>
            <a:noFill/>
          </a:ln>
        </p:spPr>
        <p:txBody>
          <a:bodyPr/>
          <a:lstStyle/>
          <a:p/>
        </p:txBody>
      </p:sp>
      <p:sp>
        <p:nvSpPr>
          <p:cNvPr id="524" name="TextBox 523"/>
          <p:cNvSpPr txBox="1"/>
          <p:nvPr/>
        </p:nvSpPr>
        <p:spPr>
          <a:xfrm>
            <a:off x="32004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24" name="s524"/>
          <p:cNvSpPr>
            <a:spLocks noGrp="1"/>
          </p:cNvSpPr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80E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25" name="TextBox 524"/>
          <p:cNvSpPr txBox="1"/>
          <p:nvPr/>
        </p:nvSpPr>
        <p:spPr>
          <a:xfrm>
            <a:off x="32004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65F91"/>
                </a:solidFill>
                <a:latin typeface="Calibri"/>
              </a:rPr>
              <a:t>LabLumen  |  Cloud Native Microservices Platform  |  DevOps Capstone 2026</a:t>
            </a:r>
          </a:p>
        </p:txBody>
      </p:sp>
      <p:sp>
        <p:nvSpPr>
          <p:cNvPr id="525" name="s525"/>
          <p:cNvSpPr>
            <a:spLocks noGrp="1"/>
          </p:cNvSpPr>
          <p:nvPr/>
        </p:nvSpPr>
        <p:spPr>
          <a:xfrm>
            <a:off x="320040" y="1124712"/>
            <a:ext cx="5440680" cy="251460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26" name="s526"/>
          <p:cNvSpPr>
            <a:spLocks noGrp="1"/>
          </p:cNvSpPr>
          <p:nvPr/>
        </p:nvSpPr>
        <p:spPr>
          <a:xfrm>
            <a:off x="320040" y="1124712"/>
            <a:ext cx="544068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27" name="TextBox 526"/>
          <p:cNvSpPr txBox="1"/>
          <p:nvPr/>
        </p:nvSpPr>
        <p:spPr>
          <a:xfrm>
            <a:off x="429768" y="1197864"/>
            <a:ext cx="5221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Backend Services</a:t>
            </a:r>
          </a:p>
        </p:txBody>
      </p:sp>
      <p:sp>
        <p:nvSpPr>
          <p:cNvPr id="528" name="TextBox 527"/>
          <p:cNvSpPr txBox="1"/>
          <p:nvPr/>
        </p:nvSpPr>
        <p:spPr>
          <a:xfrm>
            <a:off x="457200" y="1536192"/>
            <a:ext cx="5166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Python 3.12 + FastAPI  (async, 3 backend services)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SQLAlchemy async + Alembic  (DB migrations)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PostgreSQL RDS + Redis in-cluster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AWS SQS  (event bus)  |  SES  (email)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AWS Bedrock Nova Lite + Textract  (AI pipeline)</a:t>
            </a:r>
          </a:p>
        </p:txBody>
      </p:sp>
      <p:sp>
        <p:nvSpPr>
          <p:cNvPr id="527" name="s527"/>
          <p:cNvSpPr>
            <a:spLocks noGrp="1"/>
          </p:cNvSpPr>
          <p:nvPr/>
        </p:nvSpPr>
        <p:spPr>
          <a:xfrm>
            <a:off x="320040" y="3822192"/>
            <a:ext cx="5440680" cy="260604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28" name="s528"/>
          <p:cNvSpPr>
            <a:spLocks noGrp="1"/>
          </p:cNvSpPr>
          <p:nvPr/>
        </p:nvSpPr>
        <p:spPr>
          <a:xfrm>
            <a:off x="320040" y="3822192"/>
            <a:ext cx="544068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29" name="TextBox 528"/>
          <p:cNvSpPr txBox="1"/>
          <p:nvPr/>
        </p:nvSpPr>
        <p:spPr>
          <a:xfrm>
            <a:off x="429768" y="3895344"/>
            <a:ext cx="5221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Frontend &amp; Auth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457200" y="4279392"/>
            <a:ext cx="5166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React + TypeScript + Vite  SPA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AWS Cognito  —  patient &amp; staff roles, SRP auth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S3 + CloudFront hosting  (HTTPS, OAC)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Vite build deployed via GitHub Actions OIDC</a:t>
            </a:r>
          </a:p>
        </p:txBody>
      </p:sp>
      <p:sp>
        <p:nvSpPr>
          <p:cNvPr id="529" name="s529"/>
          <p:cNvSpPr>
            <a:spLocks noGrp="1"/>
          </p:cNvSpPr>
          <p:nvPr/>
        </p:nvSpPr>
        <p:spPr>
          <a:xfrm>
            <a:off x="6080760" y="1124712"/>
            <a:ext cx="5806440" cy="251460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30" name="s530"/>
          <p:cNvSpPr>
            <a:spLocks noGrp="1"/>
          </p:cNvSpPr>
          <p:nvPr/>
        </p:nvSpPr>
        <p:spPr>
          <a:xfrm>
            <a:off x="6080760" y="1124712"/>
            <a:ext cx="580644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31" name="TextBox 530"/>
          <p:cNvSpPr txBox="1"/>
          <p:nvPr/>
        </p:nvSpPr>
        <p:spPr>
          <a:xfrm>
            <a:off x="6190488" y="1197864"/>
            <a:ext cx="5586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Platform &amp; DevOps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6217920" y="1536192"/>
            <a:ext cx="5532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Terraform  —  all AWS infra as code  (12 modules)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Docker  (multistage builds, non-root)  +  ECR registry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AWS EKS  (Kubernetes v1.31)  +  Karpenter autoscaler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ArgoCD  (GitOps, App-of-Apps, 16 apps)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GitHub Actions  —  reusable polyrepo CI/CD engine</a:t>
            </a:r>
          </a:p>
        </p:txBody>
      </p:sp>
      <p:sp>
        <p:nvSpPr>
          <p:cNvPr id="531" name="s531"/>
          <p:cNvSpPr>
            <a:spLocks noGrp="1"/>
          </p:cNvSpPr>
          <p:nvPr/>
        </p:nvSpPr>
        <p:spPr>
          <a:xfrm>
            <a:off x="6080760" y="3822192"/>
            <a:ext cx="5806440" cy="260604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32" name="s532"/>
          <p:cNvSpPr>
            <a:spLocks noGrp="1"/>
          </p:cNvSpPr>
          <p:nvPr/>
        </p:nvSpPr>
        <p:spPr>
          <a:xfrm>
            <a:off x="6080760" y="3822192"/>
            <a:ext cx="580644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33" name="TextBox 532"/>
          <p:cNvSpPr txBox="1"/>
          <p:nvPr/>
        </p:nvSpPr>
        <p:spPr>
          <a:xfrm>
            <a:off x="6190488" y="3895344"/>
            <a:ext cx="5586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Security &amp; Observability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6217920" y="4279392"/>
            <a:ext cx="5532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GitHub OIDC  +  IRSA  —  zero static credentials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SonarCloud SAST  |  Snyk SCA  |  Trivy container scan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Checkov IaC scan  (SARIF  →  GitHub Security tab)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Prometheus + Grafana  (kube-prometheus-stack)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KMS CMK  encrypts ECR images + Secrets Manager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33" name="s533"/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34" name="s534"/>
          <p:cNvSpPr>
            <a:spLocks noGrp="1"/>
          </p:cNvSpPr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06E6B"/>
          </a:solidFill>
          <a:ln>
            <a:noFill/>
          </a:ln>
        </p:spPr>
        <p:txBody>
          <a:bodyPr/>
          <a:lstStyle/>
          <a:p/>
        </p:txBody>
      </p:sp>
      <p:sp>
        <p:nvSpPr>
          <p:cNvPr id="535" name="TextBox 534"/>
          <p:cNvSpPr txBox="1"/>
          <p:nvPr/>
        </p:nvSpPr>
        <p:spPr>
          <a:xfrm>
            <a:off x="32004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Microservices Breakdown</a:t>
            </a:r>
          </a:p>
        </p:txBody>
      </p:sp>
      <p:sp>
        <p:nvSpPr>
          <p:cNvPr id="535" name="s535"/>
          <p:cNvSpPr>
            <a:spLocks noGrp="1"/>
          </p:cNvSpPr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80E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36" name="TextBox 535"/>
          <p:cNvSpPr txBox="1"/>
          <p:nvPr/>
        </p:nvSpPr>
        <p:spPr>
          <a:xfrm>
            <a:off x="32004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65F91"/>
                </a:solidFill>
                <a:latin typeface="Calibri"/>
              </a:rPr>
              <a:t>LabLumen  |  Cloud Native Microservices Platform  |  DevOps Capstone 2026</a:t>
            </a:r>
          </a:p>
        </p:txBody>
      </p:sp>
      <p:graphicFrame>
        <p:nvGraphicFramePr>
          <p:cNvPr id="537" name="Table 536"/>
          <p:cNvGraphicFramePr>
            <a:graphicFrameLocks noGrp="1"/>
          </p:cNvGraphicFramePr>
          <p:nvPr/>
        </p:nvGraphicFramePr>
        <p:xfrm>
          <a:off x="320040" y="1170432"/>
          <a:ext cx="1127455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6885432"/>
              </a:tblGrid>
              <a:tr h="8534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>
                    <a:solidFill>
                      <a:srgbClr val="00ACA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Runtime</a:t>
                      </a:r>
                    </a:p>
                  </a:txBody>
                  <a:tcPr>
                    <a:solidFill>
                      <a:srgbClr val="00ACA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Role &amp; Responsibilities</a:t>
                      </a:r>
                    </a:p>
                  </a:txBody>
                  <a:tcPr>
                    <a:solidFill>
                      <a:srgbClr val="00ACA2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appointment-service</a:t>
                      </a:r>
                    </a:p>
                  </a:txBody>
                  <a:tcPr>
                    <a:solidFill>
                      <a:srgbClr val="0A123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FastAPI / Python 3.12</a:t>
                      </a:r>
                    </a:p>
                  </a:txBody>
                  <a:tcPr>
                    <a:solidFill>
                      <a:srgbClr val="0A123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Booking, patients, lab-test catalogue. Redis slot-locks prevent double-booking. Publishes appointment.booked events to SQS. Alembic DB migrations on startup.</a:t>
                      </a:r>
                    </a:p>
                  </a:txBody>
                  <a:tcPr>
                    <a:solidFill>
                      <a:srgbClr val="0A1234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report-service</a:t>
                      </a:r>
                    </a:p>
                  </a:txBody>
                  <a:tcPr>
                    <a:solidFill>
                      <a:srgbClr val="101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FastAPI / Python 3.12</a:t>
                      </a:r>
                    </a:p>
                  </a:txBody>
                  <a:tcPr>
                    <a:solidFill>
                      <a:srgbClr val="101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Lab report upload (S3) and delivery (pre-signed URLs). AI-powered RAG chat via Bedrock Nova Lite + pgvector. IRSA-authenticated for S3 &amp; Bedrock access.</a:t>
                      </a:r>
                    </a:p>
                  </a:txBody>
                  <a:tcPr>
                    <a:solidFill>
                      <a:srgbClr val="101C44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notification-service</a:t>
                      </a:r>
                    </a:p>
                  </a:txBody>
                  <a:tcPr>
                    <a:solidFill>
                      <a:srgbClr val="0A123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FastAPI worker / Python 3.12</a:t>
                      </a:r>
                    </a:p>
                  </a:txBody>
                  <a:tcPr>
                    <a:solidFill>
                      <a:srgbClr val="0A123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Long-polls SQS for appointment events. Sends confirmation emails via SES (domain identity, DKIM). No public ingress. IRSA for SQS + SES access.</a:t>
                      </a:r>
                    </a:p>
                  </a:txBody>
                  <a:tcPr>
                    <a:solidFill>
                      <a:srgbClr val="0A1234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ai-service</a:t>
                      </a:r>
                    </a:p>
                  </a:txBody>
                  <a:tcPr>
                    <a:solidFill>
                      <a:srgbClr val="101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AWS Lambda / SAM</a:t>
                      </a:r>
                    </a:p>
                  </a:txBody>
                  <a:tcPr>
                    <a:solidFill>
                      <a:srgbClr val="101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S3-triggered pipeline: Textract OCR → Bedrock summarise → Titan embed → pgvector. Cross-account Bedrock role assumed at cold start. NOT deployed in Kubernetes.</a:t>
                      </a:r>
                    </a:p>
                  </a:txBody>
                  <a:tcPr>
                    <a:solidFill>
                      <a:srgbClr val="101C44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0A123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React + TypeScript + Vite</a:t>
                      </a:r>
                    </a:p>
                  </a:txBody>
                  <a:tcPr>
                    <a:solidFill>
                      <a:srgbClr val="0A123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Patient portal (book tests, view/chat reports) and staff portal (manage queue, update status). AWS Cognito SRP auth. Hosted on S3 + CloudFront.</a:t>
                      </a:r>
                    </a:p>
                  </a:txBody>
                  <a:tcPr>
                    <a:solidFill>
                      <a:srgbClr val="0A12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36" name="s536"/>
          <p:cNvSpPr>
            <a:spLocks noGrp="1"/>
          </p:cNvSpPr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000000"/>
          </a:solidFill>
          <a:ln w="31750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37" name="TextBox 536"/>
          <p:cNvSpPr txBox="1"/>
          <p:nvPr/>
        </p:nvSpPr>
        <p:spPr>
          <a:xfrm>
            <a:off x="914400" y="12801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05050"/>
                </a:solidFill>
                <a:latin typeface="Calibri"/>
              </a:rPr>
              <a:t>[ Screenshot / Diagram Placeholder ]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548640" y="228600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CA2"/>
                </a:solidFill>
                <a:latin typeface="Calibri"/>
              </a:rPr>
              <a:t>Application Architecture Diagram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1371600" y="457200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6464"/>
                </a:solidFill>
                <a:latin typeface="Calibri"/>
              </a:rPr>
              <a:t>Show: Browser → CloudFront/ALB → Services → RDS + Redis + SQS + S3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37" name="s537"/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38" name="s538"/>
          <p:cNvSpPr>
            <a:spLocks noGrp="1"/>
          </p:cNvSpPr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06E6B"/>
          </a:solidFill>
          <a:ln>
            <a:noFill/>
          </a:ln>
        </p:spPr>
        <p:txBody>
          <a:bodyPr/>
          <a:lstStyle/>
          <a:p/>
        </p:txBody>
      </p:sp>
      <p:sp>
        <p:nvSpPr>
          <p:cNvPr id="539" name="TextBox 538"/>
          <p:cNvSpPr txBox="1"/>
          <p:nvPr/>
        </p:nvSpPr>
        <p:spPr>
          <a:xfrm>
            <a:off x="32004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Event-Driven Architecture</a:t>
            </a:r>
          </a:p>
        </p:txBody>
      </p:sp>
      <p:sp>
        <p:nvSpPr>
          <p:cNvPr id="539" name="s539"/>
          <p:cNvSpPr>
            <a:spLocks noGrp="1"/>
          </p:cNvSpPr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80E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40" name="TextBox 539"/>
          <p:cNvSpPr txBox="1"/>
          <p:nvPr/>
        </p:nvSpPr>
        <p:spPr>
          <a:xfrm>
            <a:off x="32004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65F91"/>
                </a:solidFill>
                <a:latin typeface="Calibri"/>
              </a:rPr>
              <a:t>LabLumen  |  Cloud Native Microservices Platform  |  DevOps Capstone 2026</a:t>
            </a:r>
          </a:p>
        </p:txBody>
      </p:sp>
      <p:sp>
        <p:nvSpPr>
          <p:cNvPr id="540" name="s540"/>
          <p:cNvSpPr>
            <a:spLocks noGrp="1"/>
          </p:cNvSpPr>
          <p:nvPr/>
        </p:nvSpPr>
        <p:spPr>
          <a:xfrm>
            <a:off x="320040" y="1170432"/>
            <a:ext cx="5440680" cy="521208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41" name="s541"/>
          <p:cNvSpPr>
            <a:spLocks noGrp="1"/>
          </p:cNvSpPr>
          <p:nvPr/>
        </p:nvSpPr>
        <p:spPr>
          <a:xfrm>
            <a:off x="320040" y="1170432"/>
            <a:ext cx="544068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42" name="TextBox 541"/>
          <p:cNvSpPr txBox="1"/>
          <p:nvPr/>
        </p:nvSpPr>
        <p:spPr>
          <a:xfrm>
            <a:off x="429768" y="1243584"/>
            <a:ext cx="5221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Synchronous Path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457200" y="1581912"/>
            <a:ext cx="5166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Browser / SPA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Cognito SRP auth → JWT token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AWS CloudFront → ALB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Wildcard ACM cert  *. rnld101.xyz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appointment-service  |  report-service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FastAPI async, port 8000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PostgreSQL (RDS) via SQLAlchemy async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Redis  (in-cluster, ephemeral)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5-min slot-locks for concurrent booking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JWKS public-key cache</a:t>
            </a:r>
          </a:p>
        </p:txBody>
      </p:sp>
      <p:sp>
        <p:nvSpPr>
          <p:cNvPr id="542" name="s542"/>
          <p:cNvSpPr>
            <a:spLocks noGrp="1"/>
          </p:cNvSpPr>
          <p:nvPr/>
        </p:nvSpPr>
        <p:spPr>
          <a:xfrm>
            <a:off x="6080760" y="1170432"/>
            <a:ext cx="5806440" cy="246888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43" name="s543"/>
          <p:cNvSpPr>
            <a:spLocks noGrp="1"/>
          </p:cNvSpPr>
          <p:nvPr/>
        </p:nvSpPr>
        <p:spPr>
          <a:xfrm>
            <a:off x="6080760" y="1170432"/>
            <a:ext cx="580644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44" name="TextBox 543"/>
          <p:cNvSpPr txBox="1"/>
          <p:nvPr/>
        </p:nvSpPr>
        <p:spPr>
          <a:xfrm>
            <a:off x="6190488" y="1243584"/>
            <a:ext cx="5586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Async / Event Path  (SQS)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217920" y="1581912"/>
            <a:ext cx="5532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appointment-service publishes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appointment.booked  →  SQS queue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Decoupled: booking succeeds even if notification fails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notification-service long-polls SQS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Receives event, sends email via SES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On error: logs + continues (DLQ handles retries)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Deletes message only on success</a:t>
            </a:r>
          </a:p>
        </p:txBody>
      </p:sp>
      <p:sp>
        <p:nvSpPr>
          <p:cNvPr id="544" name="s544"/>
          <p:cNvSpPr>
            <a:spLocks noGrp="1"/>
          </p:cNvSpPr>
          <p:nvPr/>
        </p:nvSpPr>
        <p:spPr>
          <a:xfrm>
            <a:off x="6080760" y="3822192"/>
            <a:ext cx="5806440" cy="256032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45" name="s545"/>
          <p:cNvSpPr>
            <a:spLocks noGrp="1"/>
          </p:cNvSpPr>
          <p:nvPr/>
        </p:nvSpPr>
        <p:spPr>
          <a:xfrm>
            <a:off x="6080760" y="3822192"/>
            <a:ext cx="580644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46" name="TextBox 545"/>
          <p:cNvSpPr txBox="1"/>
          <p:nvPr/>
        </p:nvSpPr>
        <p:spPr>
          <a:xfrm>
            <a:off x="6190488" y="3895344"/>
            <a:ext cx="5586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AI Pipeline  (S3 → Lambda)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6217920" y="4233672"/>
            <a:ext cx="5532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PDF uploaded to S3 reports bucket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Triggers Lambda (S3 ObjectCreated event)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Lambda: Textract OCR extracts full text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Bedrock Nova Lite generates summary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Titan Embeddings v2 vectorises chunks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Stored in pgvector (RDS Postgres)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report-service RAG chat uses pgvector search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Document-scoped: no cross-patient data bleed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E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46" name="s546"/>
          <p:cNvSpPr>
            <a:spLocks noGrp="1"/>
          </p:cNvSpPr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911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7" name="TextBox 546"/>
          <p:cNvSpPr txBox="1"/>
          <p:nvPr/>
        </p:nvSpPr>
        <p:spPr>
          <a:xfrm>
            <a:off x="457200" y="8229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005A57"/>
                </a:solidFill>
                <a:latin typeface="Calibri"/>
              </a:rPr>
              <a:t>02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502920" y="24688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Cloud Infrastructure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502920" y="4251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3EEEA"/>
                </a:solidFill>
                <a:latin typeface="Calibri"/>
              </a:rPr>
              <a:t>AWS Services  |  Multi-AZ VPC  |  EKS  |  RDS  |  CloudFront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47" name="s547"/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48" name="s548"/>
          <p:cNvSpPr>
            <a:spLocks noGrp="1"/>
          </p:cNvSpPr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06E6B"/>
          </a:solidFill>
          <a:ln>
            <a:noFill/>
          </a:ln>
        </p:spPr>
        <p:txBody>
          <a:bodyPr/>
          <a:lstStyle/>
          <a:p/>
        </p:txBody>
      </p:sp>
      <p:sp>
        <p:nvSpPr>
          <p:cNvPr id="549" name="TextBox 548"/>
          <p:cNvSpPr txBox="1"/>
          <p:nvPr/>
        </p:nvSpPr>
        <p:spPr>
          <a:xfrm>
            <a:off x="32004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AWS Services Used</a:t>
            </a:r>
          </a:p>
        </p:txBody>
      </p:sp>
      <p:sp>
        <p:nvSpPr>
          <p:cNvPr id="549" name="s549"/>
          <p:cNvSpPr>
            <a:spLocks noGrp="1"/>
          </p:cNvSpPr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80E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50" name="TextBox 549"/>
          <p:cNvSpPr txBox="1"/>
          <p:nvPr/>
        </p:nvSpPr>
        <p:spPr>
          <a:xfrm>
            <a:off x="32004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65F91"/>
                </a:solidFill>
                <a:latin typeface="Calibri"/>
              </a:rPr>
              <a:t>LabLumen  |  Cloud Native Microservices Platform  |  DevOps Capstone 2026</a:t>
            </a:r>
          </a:p>
        </p:txBody>
      </p:sp>
      <p:sp>
        <p:nvSpPr>
          <p:cNvPr id="550" name="s550"/>
          <p:cNvSpPr>
            <a:spLocks noGrp="1"/>
          </p:cNvSpPr>
          <p:nvPr/>
        </p:nvSpPr>
        <p:spPr>
          <a:xfrm>
            <a:off x="320040" y="1124712"/>
            <a:ext cx="5532120" cy="260604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51" name="s551"/>
          <p:cNvSpPr>
            <a:spLocks noGrp="1"/>
          </p:cNvSpPr>
          <p:nvPr/>
        </p:nvSpPr>
        <p:spPr>
          <a:xfrm>
            <a:off x="320040" y="1124712"/>
            <a:ext cx="553212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52" name="TextBox 551"/>
          <p:cNvSpPr txBox="1"/>
          <p:nvPr/>
        </p:nvSpPr>
        <p:spPr>
          <a:xfrm>
            <a:off x="429768" y="1197864"/>
            <a:ext cx="53126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Compute &amp; Networking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457200" y="1536192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EKS v1.31  —  managed Kubernetes control plane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EC2  (c7i-flex.large)  —  managed node group + Karpenter nodes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VPC  —  public / private / DB subnets across 2 AZs,  NAT Gateway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ALB  —  provisioned by AWS Load Balancer Controller via Ingress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CloudFront  —  CDN for SPA  (OAC, HTTPS, wildcard ACM cert)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Lambda  —  AI processing pipeline  (SAM-managed)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Route53 + ACM  —  wildcard cert  *.rnld101.xyz</a:t>
            </a:r>
          </a:p>
        </p:txBody>
      </p:sp>
      <p:sp>
        <p:nvSpPr>
          <p:cNvPr id="552" name="s552"/>
          <p:cNvSpPr>
            <a:spLocks noGrp="1"/>
          </p:cNvSpPr>
          <p:nvPr/>
        </p:nvSpPr>
        <p:spPr>
          <a:xfrm>
            <a:off x="320040" y="3913632"/>
            <a:ext cx="5532120" cy="251460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53" name="s553"/>
          <p:cNvSpPr>
            <a:spLocks noGrp="1"/>
          </p:cNvSpPr>
          <p:nvPr/>
        </p:nvSpPr>
        <p:spPr>
          <a:xfrm>
            <a:off x="320040" y="3913632"/>
            <a:ext cx="553212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54" name="TextBox 553"/>
          <p:cNvSpPr txBox="1"/>
          <p:nvPr/>
        </p:nvSpPr>
        <p:spPr>
          <a:xfrm>
            <a:off x="429768" y="3986784"/>
            <a:ext cx="53126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Storage &amp; Messaging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457200" y="4325112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RDS PostgreSQL  (db.t4g.micro)  —  primary DB + pgvector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S3  —  reports bucket  (KMS-encrypted, versioned)  + frontend bucket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ECR  —  4 container image repos  (KMS-encrypted, immutable tags)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SQS  —  appointment.booked  event queue  (120s visibility timeout)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SES  —  outbound email  (domain identity, DKIM CNAMEs via Terraform)</a:t>
            </a:r>
          </a:p>
        </p:txBody>
      </p:sp>
      <p:sp>
        <p:nvSpPr>
          <p:cNvPr id="554" name="s554"/>
          <p:cNvSpPr>
            <a:spLocks noGrp="1"/>
          </p:cNvSpPr>
          <p:nvPr/>
        </p:nvSpPr>
        <p:spPr>
          <a:xfrm>
            <a:off x="5989320" y="1124712"/>
            <a:ext cx="5897880" cy="260604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55" name="s555"/>
          <p:cNvSpPr>
            <a:spLocks noGrp="1"/>
          </p:cNvSpPr>
          <p:nvPr/>
        </p:nvSpPr>
        <p:spPr>
          <a:xfrm>
            <a:off x="5989320" y="1124712"/>
            <a:ext cx="589788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56" name="TextBox 555"/>
          <p:cNvSpPr txBox="1"/>
          <p:nvPr/>
        </p:nvSpPr>
        <p:spPr>
          <a:xfrm>
            <a:off x="6099048" y="1197864"/>
            <a:ext cx="5678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Identity &amp; Secrets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6080760" y="1536192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Cognito  —  user pool, SRP auth, patient / staff roles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Secrets Manager  —  DB URL, Grafana creds  (ESO-pulled at runtime)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SSM Parameter Store  —  non-sensitive config  (/lablumen/config/*)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KMS CMK  —  encrypts ECR images and Secrets Manager values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IAM + OIDC  —  GitHub OIDC federation  (4 roles, zero static keys)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IRSA  —  pod-level AWS identity via ServiceAccount annotation</a:t>
            </a:r>
          </a:p>
        </p:txBody>
      </p:sp>
      <p:sp>
        <p:nvSpPr>
          <p:cNvPr id="556" name="s556"/>
          <p:cNvSpPr>
            <a:spLocks noGrp="1"/>
          </p:cNvSpPr>
          <p:nvPr/>
        </p:nvSpPr>
        <p:spPr>
          <a:xfrm>
            <a:off x="5989320" y="3913632"/>
            <a:ext cx="5897880" cy="251460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57" name="s557"/>
          <p:cNvSpPr>
            <a:spLocks noGrp="1"/>
          </p:cNvSpPr>
          <p:nvPr/>
        </p:nvSpPr>
        <p:spPr>
          <a:xfrm>
            <a:off x="5989320" y="3913632"/>
            <a:ext cx="589788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58" name="TextBox 557"/>
          <p:cNvSpPr txBox="1"/>
          <p:nvPr/>
        </p:nvSpPr>
        <p:spPr>
          <a:xfrm>
            <a:off x="6099048" y="3986784"/>
            <a:ext cx="5678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AI &amp; Observability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6080760" y="4325112"/>
            <a:ext cx="5669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Bedrock  (Nova Lite)  —  lab report AI summarisation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Textract  —  PDF / image text extraction for lab reports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EKS Control Plane Logs  →  CloudWatch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Prometheus  —  cluster metrics  (in-cluster, kube-prometheus-stack)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Grafana  —  dashboards at  grafana.rnld101.xyz  (ESO-managed creds)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External DNS  —  syncs K8s Ingress hosts  →  Route53 A records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58" name="s558"/>
          <p:cNvSpPr>
            <a:spLocks noGrp="1"/>
          </p:cNvSpPr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000000"/>
          </a:solidFill>
          <a:ln w="31750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59" name="TextBox 558"/>
          <p:cNvSpPr txBox="1"/>
          <p:nvPr/>
        </p:nvSpPr>
        <p:spPr>
          <a:xfrm>
            <a:off x="914400" y="12801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05050"/>
                </a:solidFill>
                <a:latin typeface="Calibri"/>
              </a:rPr>
              <a:t>[ Screenshot / Diagram Placeholder ]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548640" y="228600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CA2"/>
                </a:solidFill>
                <a:latin typeface="Calibri"/>
              </a:rPr>
              <a:t>AWS Architecture Diagram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1371600" y="457200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6464"/>
                </a:solidFill>
                <a:latin typeface="Calibri"/>
              </a:rPr>
              <a:t>Show: VPC → EKS (private) + RDS (DB subnet) | CloudFront → S3 | SQS | Lambda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E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59" name="s559"/>
          <p:cNvSpPr>
            <a:spLocks noGrp="1"/>
          </p:cNvSpPr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9114"/>
          </a:solidFill>
          <a:ln>
            <a:noFill/>
          </a:ln>
        </p:spPr>
        <p:txBody>
          <a:bodyPr/>
          <a:lstStyle/>
          <a:p/>
        </p:txBody>
      </p:sp>
      <p:sp>
        <p:nvSpPr>
          <p:cNvPr id="560" name="TextBox 559"/>
          <p:cNvSpPr txBox="1"/>
          <p:nvPr/>
        </p:nvSpPr>
        <p:spPr>
          <a:xfrm>
            <a:off x="457200" y="8229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005A57"/>
                </a:solidFill>
                <a:latin typeface="Calibri"/>
              </a:rPr>
              <a:t>03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502920" y="24688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Terraform — Infrastructure as Code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502920" y="4251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3EEEA"/>
                </a:solidFill>
                <a:latin typeface="Calibri"/>
              </a:rPr>
              <a:t>12 Modules  |  Remote State  |  OIDC  |  IRSA  |  Infracost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60" name="s560"/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61" name="s561"/>
          <p:cNvSpPr>
            <a:spLocks noGrp="1"/>
          </p:cNvSpPr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06E6B"/>
          </a:solidFill>
          <a:ln>
            <a:noFill/>
          </a:ln>
        </p:spPr>
        <p:txBody>
          <a:bodyPr/>
          <a:lstStyle/>
          <a:p/>
        </p:txBody>
      </p:sp>
      <p:sp>
        <p:nvSpPr>
          <p:cNvPr id="562" name="TextBox 561"/>
          <p:cNvSpPr txBox="1"/>
          <p:nvPr/>
        </p:nvSpPr>
        <p:spPr>
          <a:xfrm>
            <a:off x="32004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Terraform — How Infrastructure is Provisioned</a:t>
            </a:r>
          </a:p>
        </p:txBody>
      </p:sp>
      <p:sp>
        <p:nvSpPr>
          <p:cNvPr id="562" name="s562"/>
          <p:cNvSpPr>
            <a:spLocks noGrp="1"/>
          </p:cNvSpPr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80E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63" name="TextBox 562"/>
          <p:cNvSpPr txBox="1"/>
          <p:nvPr/>
        </p:nvSpPr>
        <p:spPr>
          <a:xfrm>
            <a:off x="32004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65F91"/>
                </a:solidFill>
                <a:latin typeface="Calibri"/>
              </a:rPr>
              <a:t>LabLumen  |  Cloud Native Microservices Platform  |  DevOps Capstone 2026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320040" y="1124712"/>
            <a:ext cx="5897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Zero manual AWS console setup — every resource is Terraform-managed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Remote state: S3 bucket  lablumen-tfstate-&lt;account-id&gt;  with native S3 locking  (use_lockfile = true)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Bootstrap folder: creates state bucket with  prevent_destroy  before the main stack — separate concern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Account-portable: no hardcoded account IDs — derived via  data.aws_caller_identity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All resources tagged:  Environment  +  Owner  on every resource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CDD7E8"/>
                </a:solidFill>
                <a:latin typeface="Calibri"/>
              </a:rPr>
              <a:t>▶  terraform fmt  +  terraform validate  pass cleanly;  terraform.tfvars  drives all values</a:t>
            </a:r>
          </a:p>
        </p:txBody>
      </p:sp>
      <p:sp>
        <p:nvSpPr>
          <p:cNvPr id="563" name="s563"/>
          <p:cNvSpPr>
            <a:spLocks noGrp="1"/>
          </p:cNvSpPr>
          <p:nvPr/>
        </p:nvSpPr>
        <p:spPr>
          <a:xfrm>
            <a:off x="320040" y="4096512"/>
            <a:ext cx="5897880" cy="233172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64" name="s564"/>
          <p:cNvSpPr>
            <a:spLocks noGrp="1"/>
          </p:cNvSpPr>
          <p:nvPr/>
        </p:nvSpPr>
        <p:spPr>
          <a:xfrm>
            <a:off x="320040" y="4096512"/>
            <a:ext cx="589788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65" name="TextBox 564"/>
          <p:cNvSpPr txBox="1"/>
          <p:nvPr/>
        </p:nvSpPr>
        <p:spPr>
          <a:xfrm>
            <a:off x="429768" y="4169664"/>
            <a:ext cx="5678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4 GitHub OIDC IAM Roles — Zero Static Keys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457200" y="4507992"/>
            <a:ext cx="5715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lablumen-tf-plan     — read-only + state  (runs on every PR automatically)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lablumen-tf-apply    — admin  (runs on main only, after human approval)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lablumen-app-ci-ecr  — ECR push  (triggered on merge to each service repo)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lablumen-frontend-deploy  — S3 sync + CloudFront invalidation</a:t>
            </a:r>
          </a:p>
        </p:txBody>
      </p:sp>
      <p:sp>
        <p:nvSpPr>
          <p:cNvPr id="565" name="s565"/>
          <p:cNvSpPr>
            <a:spLocks noGrp="1"/>
          </p:cNvSpPr>
          <p:nvPr/>
        </p:nvSpPr>
        <p:spPr>
          <a:xfrm>
            <a:off x="6263640" y="1124712"/>
            <a:ext cx="5623560" cy="1874519"/>
          </a:xfrm>
          <a:prstGeom prst="rect">
            <a:avLst/>
          </a:prstGeom>
          <a:solidFill>
            <a:srgbClr val="0C1630"/>
          </a:solidFill>
          <a:ln w="6350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66" name="s566"/>
          <p:cNvSpPr>
            <a:spLocks noGrp="1"/>
          </p:cNvSpPr>
          <p:nvPr/>
        </p:nvSpPr>
        <p:spPr>
          <a:xfrm>
            <a:off x="6263640" y="1124712"/>
            <a:ext cx="5623560" cy="23774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67" name="TextBox 566"/>
          <p:cNvSpPr txBox="1"/>
          <p:nvPr/>
        </p:nvSpPr>
        <p:spPr>
          <a:xfrm>
            <a:off x="6355080" y="1161288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backend.tf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6373368" y="1399032"/>
            <a:ext cx="5404104" cy="1545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terraform {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backend "s3" {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bucket       = "lablumen-tfstate-261523981519"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key          = "terraform.tfstate"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region       = "us-east-1"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use_lockfile = true   # native S3 locking (no DynamoDB)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}</a:t>
            </a:r>
          </a:p>
        </p:txBody>
      </p:sp>
      <p:sp>
        <p:nvSpPr>
          <p:cNvPr id="567" name="s567"/>
          <p:cNvSpPr>
            <a:spLocks noGrp="1"/>
          </p:cNvSpPr>
          <p:nvPr/>
        </p:nvSpPr>
        <p:spPr>
          <a:xfrm>
            <a:off x="6263640" y="3136392"/>
            <a:ext cx="5623560" cy="3337560"/>
          </a:xfrm>
          <a:prstGeom prst="rect">
            <a:avLst/>
          </a:prstGeom>
          <a:solidFill>
            <a:srgbClr val="0C1630"/>
          </a:solidFill>
          <a:ln w="6350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68" name="s568"/>
          <p:cNvSpPr>
            <a:spLocks noGrp="1"/>
          </p:cNvSpPr>
          <p:nvPr/>
        </p:nvSpPr>
        <p:spPr>
          <a:xfrm>
            <a:off x="6263640" y="3136392"/>
            <a:ext cx="5623560" cy="23774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69" name="TextBox 568"/>
          <p:cNvSpPr txBox="1"/>
          <p:nvPr/>
        </p:nvSpPr>
        <p:spPr>
          <a:xfrm>
            <a:off x="6355080" y="3172968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modules/iam — OIDC role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6373368" y="3410712"/>
            <a:ext cx="5404104" cy="3008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# OIDC trust (no static credentials)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resource "aws_iam_role" "app_ci_ecr" {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assume_role_policy = jsonencode({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Statement = [{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  Principal = {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    Federated = aws_iam_openid_connect_provider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                 .github.arn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  }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  Condition = { StringLike = {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    "token.actions.githubusercontent.com:sub" =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      "repo:lablumen/*:ref:refs/heads/main"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  }}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}]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})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69" name="s569"/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70" name="s570"/>
          <p:cNvSpPr>
            <a:spLocks noGrp="1"/>
          </p:cNvSpPr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06E6B"/>
          </a:solidFill>
          <a:ln>
            <a:noFill/>
          </a:ln>
        </p:spPr>
        <p:txBody>
          <a:bodyPr/>
          <a:lstStyle/>
          <a:p/>
        </p:txBody>
      </p:sp>
      <p:sp>
        <p:nvSpPr>
          <p:cNvPr id="571" name="TextBox 570"/>
          <p:cNvSpPr txBox="1"/>
          <p:nvPr/>
        </p:nvSpPr>
        <p:spPr>
          <a:xfrm>
            <a:off x="32004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Terraform — Module Structure</a:t>
            </a:r>
          </a:p>
        </p:txBody>
      </p:sp>
      <p:sp>
        <p:nvSpPr>
          <p:cNvPr id="571" name="s571"/>
          <p:cNvSpPr>
            <a:spLocks noGrp="1"/>
          </p:cNvSpPr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80E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72" name="TextBox 571"/>
          <p:cNvSpPr txBox="1"/>
          <p:nvPr/>
        </p:nvSpPr>
        <p:spPr>
          <a:xfrm>
            <a:off x="32004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65F91"/>
                </a:solidFill>
                <a:latin typeface="Calibri"/>
              </a:rPr>
              <a:t>LabLumen  |  Cloud Native Microservices Platform  |  DevOps Capstone 2026</a:t>
            </a:r>
          </a:p>
        </p:txBody>
      </p:sp>
      <p:sp>
        <p:nvSpPr>
          <p:cNvPr id="572" name="s572"/>
          <p:cNvSpPr>
            <a:spLocks noGrp="1"/>
          </p:cNvSpPr>
          <p:nvPr/>
        </p:nvSpPr>
        <p:spPr>
          <a:xfrm>
            <a:off x="320040" y="1124712"/>
            <a:ext cx="5806440" cy="5257800"/>
          </a:xfrm>
          <a:prstGeom prst="rect">
            <a:avLst/>
          </a:prstGeom>
          <a:solidFill>
            <a:srgbClr val="0C1630"/>
          </a:solidFill>
          <a:ln w="6350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73" name="s573"/>
          <p:cNvSpPr>
            <a:spLocks noGrp="1"/>
          </p:cNvSpPr>
          <p:nvPr/>
        </p:nvSpPr>
        <p:spPr>
          <a:xfrm>
            <a:off x="320040" y="1124712"/>
            <a:ext cx="5806440" cy="23774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74" name="TextBox 573"/>
          <p:cNvSpPr txBox="1"/>
          <p:nvPr/>
        </p:nvSpPr>
        <p:spPr>
          <a:xfrm>
            <a:off x="411480" y="1161288"/>
            <a:ext cx="5623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modules/ layout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429768" y="1399032"/>
            <a:ext cx="5586984" cy="4928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modules/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vpc            VPC, 3 subnet tiers (public/private/DB), NAT GW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eks            EKS control plane, managed node group, Karpenter,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             Access Entries API (cluster-admin for tf-apply)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rds            Postgres db.t4g.micro, Secrets Manager creds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s3             Reports bucket (KMS, versioned) + SAM artifacts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cloudfront     OAC distribution + Route53 alias (toggleable)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ecr            4 image repos (KMS encrypted, immutable tags)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sqs            appointment.booked queue (120s visibility)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ses            Domain identity + DKIM CNAMEs in Route53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cognito        User pool + app client (SRP flow)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secretsmanager Secret shells (populated by ops, pulled by ESO)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ssm            Config params: /lablumen/config/*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iam            GitHub OIDC provider, 4 pipeline roles,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             all IRSA roles (ESO, report-svc, notify-svc,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             Karpenter, LBC, external-dns, ai-lambda)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lambda         AI function (SAM-managed, count-gated)</a:t>
            </a:r>
          </a:p>
        </p:txBody>
      </p:sp>
      <p:sp>
        <p:nvSpPr>
          <p:cNvPr id="574" name="s574"/>
          <p:cNvSpPr>
            <a:spLocks noGrp="1"/>
          </p:cNvSpPr>
          <p:nvPr/>
        </p:nvSpPr>
        <p:spPr>
          <a:xfrm>
            <a:off x="6172200" y="1124712"/>
            <a:ext cx="5715000" cy="237744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75" name="s575"/>
          <p:cNvSpPr>
            <a:spLocks noGrp="1"/>
          </p:cNvSpPr>
          <p:nvPr/>
        </p:nvSpPr>
        <p:spPr>
          <a:xfrm>
            <a:off x="6172200" y="1124712"/>
            <a:ext cx="571500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76" name="TextBox 575"/>
          <p:cNvSpPr txBox="1"/>
          <p:nvPr/>
        </p:nvSpPr>
        <p:spPr>
          <a:xfrm>
            <a:off x="6281928" y="1197864"/>
            <a:ext cx="5495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Key Terraform Features</a:t>
            </a:r>
          </a:p>
        </p:txBody>
      </p:sp>
      <p:sp>
        <p:nvSpPr>
          <p:cNvPr id="577" name="TextBox 576"/>
          <p:cNvSpPr txBox="1"/>
          <p:nvPr/>
        </p:nvSpPr>
        <p:spPr>
          <a:xfrm>
            <a:off x="6309360" y="1536192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IRSA  —  pod-level AWS identity for 6 service accounts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EKS Access Entries API  —  cluster-admin grant for tf-apply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KMS CMK  —  shared platform key; encrypts ECR + Secrets Manager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Infracost  —  cost estimate on every plan, PR comment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Checkov  —  IaC security scan; SARIF  →  GitHub Security tab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enable_cloudfront toggle  —  count gating for new-account bring-up</a:t>
            </a:r>
          </a:p>
        </p:txBody>
      </p:sp>
      <p:sp>
        <p:nvSpPr>
          <p:cNvPr id="576" name="s576"/>
          <p:cNvSpPr>
            <a:spLocks noGrp="1"/>
          </p:cNvSpPr>
          <p:nvPr/>
        </p:nvSpPr>
        <p:spPr>
          <a:xfrm>
            <a:off x="6172200" y="3685032"/>
            <a:ext cx="5715000" cy="260604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77" name="s577"/>
          <p:cNvSpPr>
            <a:spLocks noGrp="1"/>
          </p:cNvSpPr>
          <p:nvPr/>
        </p:nvSpPr>
        <p:spPr>
          <a:xfrm>
            <a:off x="6172200" y="3685032"/>
            <a:ext cx="571500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78" name="TextBox 577"/>
          <p:cNvSpPr txBox="1"/>
          <p:nvPr/>
        </p:nvSpPr>
        <p:spPr>
          <a:xfrm>
            <a:off x="6281928" y="3758184"/>
            <a:ext cx="5495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IRSA — Pod Identity (No Static Creds)</a:t>
            </a:r>
          </a:p>
        </p:txBody>
      </p:sp>
      <p:sp>
        <p:nvSpPr>
          <p:cNvPr id="579" name="TextBox 578"/>
          <p:cNvSpPr txBox="1"/>
          <p:nvPr/>
        </p:nvSpPr>
        <p:spPr>
          <a:xfrm>
            <a:off x="6309360" y="4096512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report-service  →  S3 (GetObject/PutObject) + Bedrock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notification-service  →  SQS (receive/delete) + SES (SendEmail)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ESO (lablumen-eso)  →  SecretsManager + SSM GetParameter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Karpenter  →  EC2 CreateFleet, DescribeInstances, etc.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AWS LBC  →  ElasticLoadBalancing full access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external-dns  →  Route53 ChangeResourceRecordSets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E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78" name="s578"/>
          <p:cNvSpPr>
            <a:spLocks noGrp="1"/>
          </p:cNvSpPr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911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9" name="TextBox 578"/>
          <p:cNvSpPr txBox="1"/>
          <p:nvPr/>
        </p:nvSpPr>
        <p:spPr>
          <a:xfrm>
            <a:off x="457200" y="8229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005A57"/>
                </a:solidFill>
                <a:latin typeface="Calibri"/>
              </a:rPr>
              <a:t>04</a:t>
            </a:r>
          </a:p>
        </p:txBody>
      </p:sp>
      <p:sp>
        <p:nvSpPr>
          <p:cNvPr id="580" name="TextBox 579"/>
          <p:cNvSpPr txBox="1"/>
          <p:nvPr/>
        </p:nvSpPr>
        <p:spPr>
          <a:xfrm>
            <a:off x="502920" y="24688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Kubernetes on EKS</a:t>
            </a:r>
          </a:p>
        </p:txBody>
      </p:sp>
      <p:sp>
        <p:nvSpPr>
          <p:cNvPr id="581" name="TextBox 580"/>
          <p:cNvSpPr txBox="1"/>
          <p:nvPr/>
        </p:nvSpPr>
        <p:spPr>
          <a:xfrm>
            <a:off x="502920" y="4251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3EEEA"/>
                </a:solidFill>
                <a:latin typeface="Calibri"/>
              </a:rPr>
              <a:t>Namespaces  |  Helm  |  ArgoCD  |  Karpenter  |  Grafana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79" name="s579"/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80" name="s580"/>
          <p:cNvSpPr>
            <a:spLocks noGrp="1"/>
          </p:cNvSpPr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06E6B"/>
          </a:solidFill>
          <a:ln>
            <a:noFill/>
          </a:ln>
        </p:spPr>
        <p:txBody>
          <a:bodyPr/>
          <a:lstStyle/>
          <a:p/>
        </p:txBody>
      </p:sp>
      <p:sp>
        <p:nvSpPr>
          <p:cNvPr id="581" name="TextBox 580"/>
          <p:cNvSpPr txBox="1"/>
          <p:nvPr/>
        </p:nvSpPr>
        <p:spPr>
          <a:xfrm>
            <a:off x="32004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EKS Cluster Layout</a:t>
            </a:r>
          </a:p>
        </p:txBody>
      </p:sp>
      <p:sp>
        <p:nvSpPr>
          <p:cNvPr id="581" name="s581"/>
          <p:cNvSpPr>
            <a:spLocks noGrp="1"/>
          </p:cNvSpPr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80E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82" name="TextBox 581"/>
          <p:cNvSpPr txBox="1"/>
          <p:nvPr/>
        </p:nvSpPr>
        <p:spPr>
          <a:xfrm>
            <a:off x="32004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65F91"/>
                </a:solidFill>
                <a:latin typeface="Calibri"/>
              </a:rPr>
              <a:t>LabLumen  |  Cloud Native Microservices Platform  |  DevOps Capstone 2026</a:t>
            </a:r>
          </a:p>
        </p:txBody>
      </p:sp>
      <p:sp>
        <p:nvSpPr>
          <p:cNvPr id="582" name="s582"/>
          <p:cNvSpPr>
            <a:spLocks noGrp="1"/>
          </p:cNvSpPr>
          <p:nvPr/>
        </p:nvSpPr>
        <p:spPr>
          <a:xfrm>
            <a:off x="320040" y="1124712"/>
            <a:ext cx="5440680" cy="283464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83" name="s583"/>
          <p:cNvSpPr>
            <a:spLocks noGrp="1"/>
          </p:cNvSpPr>
          <p:nvPr/>
        </p:nvSpPr>
        <p:spPr>
          <a:xfrm>
            <a:off x="320040" y="1124712"/>
            <a:ext cx="544068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84" name="TextBox 583"/>
          <p:cNvSpPr txBox="1"/>
          <p:nvPr/>
        </p:nvSpPr>
        <p:spPr>
          <a:xfrm>
            <a:off x="429768" y="1197864"/>
            <a:ext cx="5221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Namespaces</a:t>
            </a:r>
          </a:p>
        </p:txBody>
      </p:sp>
      <p:graphicFrame>
        <p:nvGraphicFramePr>
          <p:cNvPr id="585" name="Table 584"/>
          <p:cNvGraphicFramePr>
            <a:graphicFrameLocks noGrp="1"/>
          </p:cNvGraphicFramePr>
          <p:nvPr/>
        </p:nvGraphicFramePr>
        <p:xfrm>
          <a:off x="320040" y="1536192"/>
          <a:ext cx="52578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520440"/>
              </a:tblGrid>
              <a:tr h="69886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Namespace</a:t>
                      </a:r>
                    </a:p>
                  </a:txBody>
                  <a:tcPr>
                    <a:solidFill>
                      <a:srgbClr val="00ACA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Contents</a:t>
                      </a:r>
                    </a:p>
                  </a:txBody>
                  <a:tcPr>
                    <a:solidFill>
                      <a:srgbClr val="00ACA2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lablumen</a:t>
                      </a:r>
                    </a:p>
                  </a:txBody>
                  <a:tcPr>
                    <a:solidFill>
                      <a:srgbClr val="0A123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Production: appointment, report, notification, redis, frontend (2 replicas each)</a:t>
                      </a:r>
                    </a:p>
                  </a:txBody>
                  <a:tcPr>
                    <a:solidFill>
                      <a:srgbClr val="0A1234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lablumen-dev</a:t>
                      </a:r>
                    </a:p>
                  </a:txBody>
                  <a:tcPr>
                    <a:solidFill>
                      <a:srgbClr val="101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Dev: same services (1 replica each), shorter resource limits</a:t>
                      </a:r>
                    </a:p>
                  </a:txBody>
                  <a:tcPr>
                    <a:solidFill>
                      <a:srgbClr val="101C44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argocd</a:t>
                      </a:r>
                    </a:p>
                  </a:txBody>
                  <a:tcPr>
                    <a:solidFill>
                      <a:srgbClr val="0A123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GitOps controller, app-of-apps bootstrap</a:t>
                      </a:r>
                    </a:p>
                  </a:txBody>
                  <a:tcPr>
                    <a:solidFill>
                      <a:srgbClr val="0A1234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monitoring</a:t>
                      </a:r>
                    </a:p>
                  </a:txBody>
                  <a:tcPr>
                    <a:solidFill>
                      <a:srgbClr val="101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kube-prometheus-stack: Prometheus + Grafana + Alertmanager</a:t>
                      </a:r>
                    </a:p>
                  </a:txBody>
                  <a:tcPr>
                    <a:solidFill>
                      <a:srgbClr val="101C44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external-secrets</a:t>
                      </a:r>
                    </a:p>
                  </a:txBody>
                  <a:tcPr>
                    <a:solidFill>
                      <a:srgbClr val="0A123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ESO operator — pulls Secrets Manager + SSM</a:t>
                      </a:r>
                    </a:p>
                  </a:txBody>
                  <a:tcPr>
                    <a:solidFill>
                      <a:srgbClr val="0A1234"/>
                    </a:solidFill>
                  </a:tcPr>
                </a:tc>
              </a:tr>
              <a:tr h="69886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kube-system</a:t>
                      </a:r>
                    </a:p>
                  </a:txBody>
                  <a:tcPr>
                    <a:solidFill>
                      <a:srgbClr val="101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DD7E8"/>
                          </a:solidFill>
                          <a:latin typeface="Calibri"/>
                        </a:rPr>
                        <a:t>Karpenter, AWS LBC, CoreDNS, external-dns, metrics-server</a:t>
                      </a:r>
                    </a:p>
                  </a:txBody>
                  <a:tcPr>
                    <a:solidFill>
                      <a:srgbClr val="101C44"/>
                    </a:solidFill>
                  </a:tcPr>
                </a:tc>
              </a:tr>
            </a:tbl>
          </a:graphicData>
        </a:graphic>
      </p:graphicFrame>
      <p:sp>
        <p:nvSpPr>
          <p:cNvPr id="584" name="s584"/>
          <p:cNvSpPr>
            <a:spLocks noGrp="1"/>
          </p:cNvSpPr>
          <p:nvPr/>
        </p:nvSpPr>
        <p:spPr>
          <a:xfrm>
            <a:off x="6080760" y="1124712"/>
            <a:ext cx="5806440" cy="525780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85" name="s585"/>
          <p:cNvSpPr>
            <a:spLocks noGrp="1"/>
          </p:cNvSpPr>
          <p:nvPr/>
        </p:nvSpPr>
        <p:spPr>
          <a:xfrm>
            <a:off x="6080760" y="1124712"/>
            <a:ext cx="580644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86" name="TextBox 585"/>
          <p:cNvSpPr txBox="1"/>
          <p:nvPr/>
        </p:nvSpPr>
        <p:spPr>
          <a:xfrm>
            <a:off x="6190488" y="1197864"/>
            <a:ext cx="5586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Helm Charts &amp; GitOps Values</a:t>
            </a:r>
          </a:p>
        </p:txBody>
      </p:sp>
      <p:sp>
        <p:nvSpPr>
          <p:cNvPr id="587" name="TextBox 586"/>
          <p:cNvSpPr txBox="1"/>
          <p:nvPr/>
        </p:nvSpPr>
        <p:spPr>
          <a:xfrm>
            <a:off x="6217920" y="1536192"/>
            <a:ext cx="55321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charts/microservice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Parametric chart for all 3 backend services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Deployment, Service, Ingress, HPA, PDB, ServiceAccount, ExternalSecret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TopologySpreadConstraints (zone + node)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Full securityContext hardening on every pod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charts/redis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Hardened ephemeral Redis (slot-locks + JWKS cache)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Value overlay pattern: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global-values.yaml  →  ECR registry URL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services/&lt;svc&gt;/values.yaml      →  common config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services/&lt;svc&gt;/values-dev.yaml  →  dev image SHA + sizing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services/&lt;svc&gt;/values-prod.yaml →  prod semver tag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ArgoCD ApplicationSet (multi-source):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Source 1: global-values.yaml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Source 2: values.yaml + values-&lt;env&gt;.yaml overlay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Source 3: chart path (charts/microservice)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▶  16 ArgoCD apps  —  all Synced + Healthy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86" name="s586"/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87" name="s587"/>
          <p:cNvSpPr>
            <a:spLocks noGrp="1"/>
          </p:cNvSpPr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06E6B"/>
          </a:solidFill>
          <a:ln>
            <a:noFill/>
          </a:ln>
        </p:spPr>
        <p:txBody>
          <a:bodyPr/>
          <a:lstStyle/>
          <a:p/>
        </p:txBody>
      </p:sp>
      <p:sp>
        <p:nvSpPr>
          <p:cNvPr id="588" name="TextBox 587"/>
          <p:cNvSpPr txBox="1"/>
          <p:nvPr/>
        </p:nvSpPr>
        <p:spPr>
          <a:xfrm>
            <a:off x="32004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Kubernetes — Security &amp; Production Hardening</a:t>
            </a:r>
          </a:p>
        </p:txBody>
      </p:sp>
      <p:sp>
        <p:nvSpPr>
          <p:cNvPr id="588" name="s588"/>
          <p:cNvSpPr>
            <a:spLocks noGrp="1"/>
          </p:cNvSpPr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80E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89" name="TextBox 588"/>
          <p:cNvSpPr txBox="1"/>
          <p:nvPr/>
        </p:nvSpPr>
        <p:spPr>
          <a:xfrm>
            <a:off x="32004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65F91"/>
                </a:solidFill>
                <a:latin typeface="Calibri"/>
              </a:rPr>
              <a:t>LabLumen  |  Cloud Native Microservices Platform  |  DevOps Capstone 2026</a:t>
            </a:r>
          </a:p>
        </p:txBody>
      </p:sp>
      <p:sp>
        <p:nvSpPr>
          <p:cNvPr id="589" name="s589"/>
          <p:cNvSpPr>
            <a:spLocks noGrp="1"/>
          </p:cNvSpPr>
          <p:nvPr/>
        </p:nvSpPr>
        <p:spPr>
          <a:xfrm>
            <a:off x="320040" y="1124712"/>
            <a:ext cx="5532120" cy="3749039"/>
          </a:xfrm>
          <a:prstGeom prst="rect">
            <a:avLst/>
          </a:prstGeom>
          <a:solidFill>
            <a:srgbClr val="0C1630"/>
          </a:solidFill>
          <a:ln w="6350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90" name="s590"/>
          <p:cNvSpPr>
            <a:spLocks noGrp="1"/>
          </p:cNvSpPr>
          <p:nvPr/>
        </p:nvSpPr>
        <p:spPr>
          <a:xfrm>
            <a:off x="320040" y="1124712"/>
            <a:ext cx="5532120" cy="23774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91" name="TextBox 590"/>
          <p:cNvSpPr txBox="1"/>
          <p:nvPr/>
        </p:nvSpPr>
        <p:spPr>
          <a:xfrm>
            <a:off x="411480" y="1161288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Pod SecurityContext</a:t>
            </a:r>
          </a:p>
        </p:txBody>
      </p:sp>
      <p:sp>
        <p:nvSpPr>
          <p:cNvPr id="592" name="TextBox 591"/>
          <p:cNvSpPr txBox="1"/>
          <p:nvPr/>
        </p:nvSpPr>
        <p:spPr>
          <a:xfrm>
            <a:off x="429768" y="1399032"/>
            <a:ext cx="5312664" cy="34198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# Applied to EVERY pod in charts/microservice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securityContext: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runAsNonRoot:              true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runAsUser:                 10001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fsGroup:                   10001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readOnlyRootFilesystem:    true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allowPrivilegeEscalation:  false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capabilities: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drop: [ALL]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seccompProfile: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type: RuntimeDefault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automountServiceAccountToken: false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# /tmp writable via emptyDir (readOnly rootFS)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volumes: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- name: tmp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emptyDir: {}</a:t>
            </a:r>
          </a:p>
        </p:txBody>
      </p:sp>
      <p:sp>
        <p:nvSpPr>
          <p:cNvPr id="591" name="s591"/>
          <p:cNvSpPr>
            <a:spLocks noGrp="1"/>
          </p:cNvSpPr>
          <p:nvPr/>
        </p:nvSpPr>
        <p:spPr>
          <a:xfrm>
            <a:off x="320040" y="4965192"/>
            <a:ext cx="5532120" cy="1417320"/>
          </a:xfrm>
          <a:prstGeom prst="rect">
            <a:avLst/>
          </a:prstGeom>
          <a:solidFill>
            <a:srgbClr val="0C1630"/>
          </a:solidFill>
          <a:ln w="6350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92" name="s592"/>
          <p:cNvSpPr>
            <a:spLocks noGrp="1"/>
          </p:cNvSpPr>
          <p:nvPr/>
        </p:nvSpPr>
        <p:spPr>
          <a:xfrm>
            <a:off x="320040" y="4965192"/>
            <a:ext cx="5532120" cy="23774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93" name="TextBox 592"/>
          <p:cNvSpPr txBox="1"/>
          <p:nvPr/>
        </p:nvSpPr>
        <p:spPr>
          <a:xfrm>
            <a:off x="411480" y="5001768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Health Probes &amp; Resource Limits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429768" y="5239512"/>
            <a:ext cx="5312664" cy="1088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# Health probes (verified in source code)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livenessProbe: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httpGet: { path: /healthz, port: 8000 }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initialDelaySeconds: 10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readinessProbe: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httpGet: { path: /readyz, port: 8000 }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initialDelaySeconds: 5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# Resource limits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resources: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requests: { cpu: 100m, memory: 128Mi }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limits:   { cpu: 500m, memory: 512Mi }</a:t>
            </a:r>
          </a:p>
        </p:txBody>
      </p:sp>
      <p:sp>
        <p:nvSpPr>
          <p:cNvPr id="593" name="s593"/>
          <p:cNvSpPr>
            <a:spLocks noGrp="1"/>
          </p:cNvSpPr>
          <p:nvPr/>
        </p:nvSpPr>
        <p:spPr>
          <a:xfrm>
            <a:off x="5989320" y="1124712"/>
            <a:ext cx="5897880" cy="251460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94" name="s594"/>
          <p:cNvSpPr>
            <a:spLocks noGrp="1"/>
          </p:cNvSpPr>
          <p:nvPr/>
        </p:nvSpPr>
        <p:spPr>
          <a:xfrm>
            <a:off x="5989320" y="1124712"/>
            <a:ext cx="589788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95" name="TextBox 594"/>
          <p:cNvSpPr txBox="1"/>
          <p:nvPr/>
        </p:nvSpPr>
        <p:spPr>
          <a:xfrm>
            <a:off x="6099048" y="1197864"/>
            <a:ext cx="5678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Resilience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6126480" y="1536192"/>
            <a:ext cx="5623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HPA  (CPU-based)  —  appointment-service + report-service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PodDisruptionBudget  maxUnavailable: 1  (safe rolling updates)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TopologySpreadConstraints  —  spread across AZs + nodes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2 replicas in production  (no single point of failure)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Startup probe on every pod  (avoids premature liveness kills)</a:t>
            </a:r>
          </a:p>
        </p:txBody>
      </p:sp>
      <p:sp>
        <p:nvSpPr>
          <p:cNvPr id="595" name="s595"/>
          <p:cNvSpPr>
            <a:spLocks noGrp="1"/>
          </p:cNvSpPr>
          <p:nvPr/>
        </p:nvSpPr>
        <p:spPr>
          <a:xfrm>
            <a:off x="5989320" y="3822192"/>
            <a:ext cx="5897880" cy="260604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596" name="s596"/>
          <p:cNvSpPr>
            <a:spLocks noGrp="1"/>
          </p:cNvSpPr>
          <p:nvPr/>
        </p:nvSpPr>
        <p:spPr>
          <a:xfrm>
            <a:off x="5989320" y="3822192"/>
            <a:ext cx="589788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97" name="TextBox 596"/>
          <p:cNvSpPr txBox="1"/>
          <p:nvPr/>
        </p:nvSpPr>
        <p:spPr>
          <a:xfrm>
            <a:off x="6099048" y="3895344"/>
            <a:ext cx="5678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Secrets — Zero Hardcoding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6126480" y="4233672"/>
            <a:ext cx="5623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External Secrets Operator pulls at runtime: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Secrets Manager  →  DATABASE_URL  (encrypted with KMS CMK)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SSM Parameter Store  →  all app config (SQS URL, S3 bucket, Cognito IDs,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   Bedrock model, CORS origins, SES sender, presigned-URL TTL)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Two ClusterSecretStores: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aws-secrets-manager   (SecretsManager source)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aws-parameter-store   (SSM source)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IRSA: ServiceAccount annotation  →  IAM role  (no node-level creds)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No secrets in Git — ever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97" name="s597"/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98" name="s598"/>
          <p:cNvSpPr>
            <a:spLocks noGrp="1"/>
          </p:cNvSpPr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06E6B"/>
          </a:solidFill>
          <a:ln>
            <a:noFill/>
          </a:ln>
        </p:spPr>
        <p:txBody>
          <a:bodyPr/>
          <a:lstStyle/>
          <a:p/>
        </p:txBody>
      </p:sp>
      <p:sp>
        <p:nvSpPr>
          <p:cNvPr id="599" name="TextBox 598"/>
          <p:cNvSpPr txBox="1"/>
          <p:nvPr/>
        </p:nvSpPr>
        <p:spPr>
          <a:xfrm>
            <a:off x="32004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ArgoCD — GitOps Deployment Model</a:t>
            </a:r>
          </a:p>
        </p:txBody>
      </p:sp>
      <p:sp>
        <p:nvSpPr>
          <p:cNvPr id="599" name="s599"/>
          <p:cNvSpPr>
            <a:spLocks noGrp="1"/>
          </p:cNvSpPr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80E2A"/>
          </a:solidFill>
          <a:ln>
            <a:noFill/>
          </a:ln>
        </p:spPr>
        <p:txBody>
          <a:bodyPr/>
          <a:lstStyle/>
          <a:p/>
        </p:txBody>
      </p:sp>
      <p:sp>
        <p:nvSpPr>
          <p:cNvPr id="600" name="TextBox 599"/>
          <p:cNvSpPr txBox="1"/>
          <p:nvPr/>
        </p:nvSpPr>
        <p:spPr>
          <a:xfrm>
            <a:off x="32004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65F91"/>
                </a:solidFill>
                <a:latin typeface="Calibri"/>
              </a:rPr>
              <a:t>LabLumen  |  Cloud Native Microservices Platform  |  DevOps Capstone 2026</a:t>
            </a:r>
          </a:p>
        </p:txBody>
      </p:sp>
      <p:sp>
        <p:nvSpPr>
          <p:cNvPr id="600" name="s600"/>
          <p:cNvSpPr>
            <a:spLocks noGrp="1"/>
          </p:cNvSpPr>
          <p:nvPr/>
        </p:nvSpPr>
        <p:spPr>
          <a:xfrm>
            <a:off x="320040" y="1124712"/>
            <a:ext cx="5715000" cy="278892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01" name="s601"/>
          <p:cNvSpPr>
            <a:spLocks noGrp="1"/>
          </p:cNvSpPr>
          <p:nvPr/>
        </p:nvSpPr>
        <p:spPr>
          <a:xfrm>
            <a:off x="320040" y="1124712"/>
            <a:ext cx="571500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02" name="TextBox 601"/>
          <p:cNvSpPr txBox="1"/>
          <p:nvPr/>
        </p:nvSpPr>
        <p:spPr>
          <a:xfrm>
            <a:off x="429768" y="1197864"/>
            <a:ext cx="5495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App-of-Apps Pattern</a:t>
            </a:r>
          </a:p>
        </p:txBody>
      </p:sp>
      <p:sp>
        <p:nvSpPr>
          <p:cNvPr id="603" name="TextBox 602"/>
          <p:cNvSpPr txBox="1"/>
          <p:nvPr/>
        </p:nvSpPr>
        <p:spPr>
          <a:xfrm>
            <a:off x="457200" y="1536192"/>
            <a:ext cx="5532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bootstrap/root-app.yaml  →  bootstraps everything from a single Application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Includes: AppProject, platform addons, ApplicationSets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AppProject: allowed repos, destinations, namespace RBAC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ApplicationSets  (list generator + multi-source)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services-dev.yaml   →  deploys to lablumen-dev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services-prod.yaml  →  deploys to lablumen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Dev: auto-sync  |  Prod: promote by GitHub Release</a:t>
            </a:r>
          </a:p>
        </p:txBody>
      </p:sp>
      <p:sp>
        <p:nvSpPr>
          <p:cNvPr id="602" name="s602"/>
          <p:cNvSpPr>
            <a:spLocks noGrp="1"/>
          </p:cNvSpPr>
          <p:nvPr/>
        </p:nvSpPr>
        <p:spPr>
          <a:xfrm>
            <a:off x="320040" y="4096512"/>
            <a:ext cx="5715000" cy="233172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03" name="s603"/>
          <p:cNvSpPr>
            <a:spLocks noGrp="1"/>
          </p:cNvSpPr>
          <p:nvPr/>
        </p:nvSpPr>
        <p:spPr>
          <a:xfrm>
            <a:off x="320040" y="4096512"/>
            <a:ext cx="571500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04" name="TextBox 603"/>
          <p:cNvSpPr txBox="1"/>
          <p:nvPr/>
        </p:nvSpPr>
        <p:spPr>
          <a:xfrm>
            <a:off x="429768" y="4169664"/>
            <a:ext cx="5495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Sync Waves (ordering guarantee)</a:t>
            </a:r>
          </a:p>
        </p:txBody>
      </p:sp>
      <p:sp>
        <p:nvSpPr>
          <p:cNvPr id="605" name="TextBox 604"/>
          <p:cNvSpPr txBox="1"/>
          <p:nvPr/>
        </p:nvSpPr>
        <p:spPr>
          <a:xfrm>
            <a:off x="457200" y="4507992"/>
            <a:ext cx="5532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050" b="0">
                <a:solidFill>
                  <a:srgbClr val="00ACA2"/>
                </a:solidFill>
                <a:latin typeface="Calibri"/>
              </a:rPr>
              <a:t>  Wave 0  —  Platform addons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ESO, metrics-server, Karpenter, LBC, external-dns, ArgoCD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00ACA2"/>
                </a:solidFill>
                <a:latin typeface="Calibri"/>
              </a:rPr>
              <a:t>  Wave 1  —  ClusterSecretStores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ESO must be ready before ExternalSecret resources sync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00ACA2"/>
                </a:solidFill>
                <a:latin typeface="Calibri"/>
              </a:rPr>
              <a:t>  Wave 2  —  Application services + Redis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appointment, report, notification, redis, frontend</a:t>
            </a:r>
          </a:p>
        </p:txBody>
      </p:sp>
      <p:sp>
        <p:nvSpPr>
          <p:cNvPr id="604" name="s604"/>
          <p:cNvSpPr>
            <a:spLocks noGrp="1"/>
          </p:cNvSpPr>
          <p:nvPr/>
        </p:nvSpPr>
        <p:spPr>
          <a:xfrm>
            <a:off x="5806440" y="1124712"/>
            <a:ext cx="6080760" cy="214884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05" name="s605"/>
          <p:cNvSpPr>
            <a:spLocks noGrp="1"/>
          </p:cNvSpPr>
          <p:nvPr/>
        </p:nvSpPr>
        <p:spPr>
          <a:xfrm>
            <a:off x="5806440" y="1124712"/>
            <a:ext cx="608076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06" name="TextBox 605"/>
          <p:cNvSpPr txBox="1"/>
          <p:nvPr/>
        </p:nvSpPr>
        <p:spPr>
          <a:xfrm>
            <a:off x="5916168" y="1197864"/>
            <a:ext cx="5861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Platform Addons managed by ArgoCD</a:t>
            </a:r>
          </a:p>
        </p:txBody>
      </p:sp>
      <p:sp>
        <p:nvSpPr>
          <p:cNvPr id="607" name="TextBox 606"/>
          <p:cNvSpPr txBox="1"/>
          <p:nvPr/>
        </p:nvSpPr>
        <p:spPr>
          <a:xfrm>
            <a:off x="5943600" y="1536192"/>
            <a:ext cx="5897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AWS Load Balancer Controller  (creates ALBs from Ingress)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External DNS  (syncs Ingress hosts  →  Route53 A records)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External Secrets Operator  (ESO)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Karpenter + CRD Application  (v1, split chart)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Metrics Server  (enables HPA)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kube-prometheus-stack  (Grafana + Prometheus + Alertmanager)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ArgoCD  (self-managed via App-of-Apps)</a:t>
            </a:r>
          </a:p>
        </p:txBody>
      </p:sp>
      <p:sp>
        <p:nvSpPr>
          <p:cNvPr id="606" name="s606"/>
          <p:cNvSpPr>
            <a:spLocks noGrp="1"/>
          </p:cNvSpPr>
          <p:nvPr/>
        </p:nvSpPr>
        <p:spPr>
          <a:xfrm>
            <a:off x="5806440" y="3410712"/>
            <a:ext cx="6080760" cy="301752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07" name="s607"/>
          <p:cNvSpPr>
            <a:spLocks noGrp="1"/>
          </p:cNvSpPr>
          <p:nvPr/>
        </p:nvSpPr>
        <p:spPr>
          <a:xfrm>
            <a:off x="5806440" y="3410712"/>
            <a:ext cx="608076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08" name="TextBox 607"/>
          <p:cNvSpPr txBox="1"/>
          <p:nvPr/>
        </p:nvSpPr>
        <p:spPr>
          <a:xfrm>
            <a:off x="5916168" y="3483864"/>
            <a:ext cx="5861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GitOps Deploy Flow</a:t>
            </a:r>
          </a:p>
        </p:txBody>
      </p:sp>
      <p:sp>
        <p:nvSpPr>
          <p:cNvPr id="609" name="TextBox 608"/>
          <p:cNvSpPr txBox="1"/>
          <p:nvPr/>
        </p:nvSpPr>
        <p:spPr>
          <a:xfrm>
            <a:off x="5943600" y="3822192"/>
            <a:ext cx="5897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feature/* branch  →  PR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Full security gate: lint + SAST + SCA + container scan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Merge to main  →  CI builds  :sha  image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Trivy gate  →  ECR push  →  yq bumps values-dev.yaml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00ACA2"/>
                </a:solidFill>
                <a:latin typeface="Calibri"/>
              </a:rPr>
              <a:t>▶  ArgoCD detects git diff  →  auto-syncs DEV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lablumen-dev namespace updated in ~30 seconds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Validate in DEV  →  GitHub Release  v1.2.0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CI retags  :sha  →  :v1.2.0  (manifest copy, no rebuild)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yq bumps values-prod.yaml  →  ArgoCD syncs PROD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▶  ArgoCD self-heals on any drift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8" name="s608"/>
          <p:cNvSpPr>
            <a:spLocks noGrp="1"/>
          </p:cNvSpPr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000000"/>
          </a:solidFill>
          <a:ln w="31750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09" name="TextBox 608"/>
          <p:cNvSpPr txBox="1"/>
          <p:nvPr/>
        </p:nvSpPr>
        <p:spPr>
          <a:xfrm>
            <a:off x="914400" y="12801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05050"/>
                </a:solidFill>
                <a:latin typeface="Calibri"/>
              </a:rPr>
              <a:t>[ Screenshot / Diagram Placeholder ]</a:t>
            </a:r>
          </a:p>
        </p:txBody>
      </p:sp>
      <p:sp>
        <p:nvSpPr>
          <p:cNvPr id="610" name="TextBox 609"/>
          <p:cNvSpPr txBox="1"/>
          <p:nvPr/>
        </p:nvSpPr>
        <p:spPr>
          <a:xfrm>
            <a:off x="548640" y="228600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CA2"/>
                </a:solidFill>
                <a:latin typeface="Calibri"/>
              </a:rPr>
              <a:t>ArgoCD — Applications Dashboard</a:t>
            </a:r>
          </a:p>
        </p:txBody>
      </p:sp>
      <p:sp>
        <p:nvSpPr>
          <p:cNvPr id="611" name="TextBox 610"/>
          <p:cNvSpPr txBox="1"/>
          <p:nvPr/>
        </p:nvSpPr>
        <p:spPr>
          <a:xfrm>
            <a:off x="1371600" y="457200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6464"/>
                </a:solidFill>
                <a:latin typeface="Calibri"/>
              </a:rPr>
              <a:t>Show: All 22+ apps Synced + Healthy, project lablumen, dev + prod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9" name="s609"/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10" name="s610"/>
          <p:cNvSpPr>
            <a:spLocks noGrp="1"/>
          </p:cNvSpPr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06E6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1" name="TextBox 610"/>
          <p:cNvSpPr txBox="1"/>
          <p:nvPr/>
        </p:nvSpPr>
        <p:spPr>
          <a:xfrm>
            <a:off x="32004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Karpenter — Node Auto-Provisioner</a:t>
            </a:r>
          </a:p>
        </p:txBody>
      </p:sp>
      <p:sp>
        <p:nvSpPr>
          <p:cNvPr id="611" name="s611"/>
          <p:cNvSpPr>
            <a:spLocks noGrp="1"/>
          </p:cNvSpPr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80E2A"/>
          </a:solidFill>
          <a:ln>
            <a:noFill/>
          </a:ln>
        </p:spPr>
        <p:txBody>
          <a:bodyPr/>
          <a:lstStyle/>
          <a:p/>
        </p:txBody>
      </p:sp>
      <p:sp>
        <p:nvSpPr>
          <p:cNvPr id="612" name="TextBox 611"/>
          <p:cNvSpPr txBox="1"/>
          <p:nvPr/>
        </p:nvSpPr>
        <p:spPr>
          <a:xfrm>
            <a:off x="32004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65F91"/>
                </a:solidFill>
                <a:latin typeface="Calibri"/>
              </a:rPr>
              <a:t>LabLumen  |  Cloud Native Microservices Platform  |  DevOps Capstone 2026</a:t>
            </a:r>
          </a:p>
        </p:txBody>
      </p:sp>
      <p:sp>
        <p:nvSpPr>
          <p:cNvPr id="612" name="s612"/>
          <p:cNvSpPr>
            <a:spLocks noGrp="1"/>
          </p:cNvSpPr>
          <p:nvPr/>
        </p:nvSpPr>
        <p:spPr>
          <a:xfrm>
            <a:off x="320040" y="1124712"/>
            <a:ext cx="5440680" cy="301752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13" name="s613"/>
          <p:cNvSpPr>
            <a:spLocks noGrp="1"/>
          </p:cNvSpPr>
          <p:nvPr/>
        </p:nvSpPr>
        <p:spPr>
          <a:xfrm>
            <a:off x="320040" y="1124712"/>
            <a:ext cx="544068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14" name="TextBox 613"/>
          <p:cNvSpPr txBox="1"/>
          <p:nvPr/>
        </p:nvSpPr>
        <p:spPr>
          <a:xfrm>
            <a:off x="429768" y="1197864"/>
            <a:ext cx="5221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What Karpenter Does</a:t>
            </a:r>
          </a:p>
        </p:txBody>
      </p:sp>
      <p:sp>
        <p:nvSpPr>
          <p:cNvPr id="615" name="TextBox 614"/>
          <p:cNvSpPr txBox="1"/>
          <p:nvPr/>
        </p:nvSpPr>
        <p:spPr>
          <a:xfrm>
            <a:off x="457200" y="1536192"/>
            <a:ext cx="51663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Replaces Cluster Autoscaler  —  provisions nodes in ~30 seconds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Watches unschedulable pods and launches the right instance type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EC2NodeClass: discovers subnets + SGs by tag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karpenter.sh/discovery = lablumen-eks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NodePool: on-demand, c7i-flex.large, CPU safety cap 20 vCPUs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Consolidation: removes underutilised nodes automatically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WhenEmptyOrUnderutilized  |  consolidateAfter: 1m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IRSA-authenticated  —  no credentials on nodes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Terraform provisions IRSA via karpenter sub-module</a:t>
            </a:r>
          </a:p>
        </p:txBody>
      </p:sp>
      <p:sp>
        <p:nvSpPr>
          <p:cNvPr id="614" name="s614"/>
          <p:cNvSpPr>
            <a:spLocks noGrp="1"/>
          </p:cNvSpPr>
          <p:nvPr/>
        </p:nvSpPr>
        <p:spPr>
          <a:xfrm>
            <a:off x="320040" y="4279392"/>
            <a:ext cx="5440680" cy="2148840"/>
          </a:xfrm>
          <a:prstGeom prst="rect">
            <a:avLst/>
          </a:prstGeom>
          <a:solidFill>
            <a:srgbClr val="0C1630"/>
          </a:solidFill>
          <a:ln w="6350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15" name="s615"/>
          <p:cNvSpPr>
            <a:spLocks noGrp="1"/>
          </p:cNvSpPr>
          <p:nvPr/>
        </p:nvSpPr>
        <p:spPr>
          <a:xfrm>
            <a:off x="320040" y="4279392"/>
            <a:ext cx="5440680" cy="23774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16" name="TextBox 615"/>
          <p:cNvSpPr txBox="1"/>
          <p:nvPr/>
        </p:nvSpPr>
        <p:spPr>
          <a:xfrm>
            <a:off x="411480" y="4315968"/>
            <a:ext cx="5257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platform/karpenter/nodepool.yaml</a:t>
            </a:r>
          </a:p>
        </p:txBody>
      </p:sp>
      <p:sp>
        <p:nvSpPr>
          <p:cNvPr id="617" name="TextBox 616"/>
          <p:cNvSpPr txBox="1"/>
          <p:nvPr/>
        </p:nvSpPr>
        <p:spPr>
          <a:xfrm>
            <a:off x="429768" y="4553712"/>
            <a:ext cx="5221224" cy="1819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apiVersion: karpenter.sh/v1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kind: NodePool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spec: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template: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spec: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  nodeClassRef: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    kind: EC2NodeClass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    name: default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  requirements: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    - key: karpenter.sh/capacity-type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      operator: In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      values: [on-demand]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    - key: node.kubernetes.io/instance-type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      operator: In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      values: [c7i-flex.large]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limits: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cpu: '20'  # cluster-wide safety cap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disruption: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consolidationPolicy: WhenEmptyOrUnderutilized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78E1D7"/>
                </a:solidFill>
                <a:latin typeface="Courier New"/>
              </a:rPr>
              <a:t>    consolidateAfter: 1m</a:t>
            </a:r>
          </a:p>
        </p:txBody>
      </p:sp>
      <p:sp>
        <p:nvSpPr>
          <p:cNvPr id="616" name="s616"/>
          <p:cNvSpPr>
            <a:spLocks noGrp="1"/>
          </p:cNvSpPr>
          <p:nvPr/>
        </p:nvSpPr>
        <p:spPr>
          <a:xfrm>
            <a:off x="6080760" y="1124712"/>
            <a:ext cx="5806440" cy="525780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17" name="s617"/>
          <p:cNvSpPr>
            <a:spLocks noGrp="1"/>
          </p:cNvSpPr>
          <p:nvPr/>
        </p:nvSpPr>
        <p:spPr>
          <a:xfrm>
            <a:off x="6080760" y="1124712"/>
            <a:ext cx="580644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18" name="TextBox 617"/>
          <p:cNvSpPr txBox="1"/>
          <p:nvPr/>
        </p:nvSpPr>
        <p:spPr>
          <a:xfrm>
            <a:off x="6190488" y="1197864"/>
            <a:ext cx="5586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Monitoring Stack  (kube-prometheus-stack)</a:t>
            </a:r>
          </a:p>
        </p:txBody>
      </p:sp>
      <p:sp>
        <p:nvSpPr>
          <p:cNvPr id="619" name="TextBox 618"/>
          <p:cNvSpPr txBox="1"/>
          <p:nvPr/>
        </p:nvSpPr>
        <p:spPr>
          <a:xfrm>
            <a:off x="6217920" y="1536192"/>
            <a:ext cx="5532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Prometheus  (internal)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Cluster-wide metrics scraping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2-day retention, ephemeral storage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Internal only: kubectl port-forward for direct access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Grafana  (external)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Exposed at  grafana.rnld101.xyz  via ALB + HTTPS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Admin credentials pulled from Secrets Manager via ESO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K8S Dashboard  —  33 workloads, 44 pods, 2 nodes visible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Alertmanager  (included, ephemeral)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ArgoCD UI  (external)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Exposed at  argocd.rnld101.xyz  via same ALB ingress group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▶  Cost-optimised: both share one ALB  (Ingress Group)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External DNS auto-creates Route53 A records for both domains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FFFFFF"/>
                </a:solidFill>
                <a:latin typeface="Calibri"/>
              </a:rPr>
              <a:t>▶  kube-state-metrics + node-exporter  included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Full node CPU/memory/disk visibility in Grafana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8" name="s618"/>
          <p:cNvSpPr>
            <a:spLocks noGrp="1"/>
          </p:cNvSpPr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000000"/>
          </a:solidFill>
          <a:ln w="31750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19" name="TextBox 618"/>
          <p:cNvSpPr txBox="1"/>
          <p:nvPr/>
        </p:nvSpPr>
        <p:spPr>
          <a:xfrm>
            <a:off x="914400" y="12801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05050"/>
                </a:solidFill>
                <a:latin typeface="Calibri"/>
              </a:rPr>
              <a:t>[ Screenshot / Diagram Placeholder ]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548640" y="228600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CA2"/>
                </a:solidFill>
                <a:latin typeface="Calibri"/>
              </a:rPr>
              <a:t>Grafana — K8s Dashboard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1371600" y="457200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6464"/>
                </a:solidFill>
                <a:latin typeface="Calibri"/>
              </a:rPr>
              <a:t>Show: Node Resource Overview — CPU/Memory, Pod count, Network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E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9" name="s619"/>
          <p:cNvSpPr>
            <a:spLocks noGrp="1"/>
          </p:cNvSpPr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9114"/>
          </a:solidFill>
          <a:ln>
            <a:noFill/>
          </a:ln>
        </p:spPr>
        <p:txBody>
          <a:bodyPr/>
          <a:lstStyle/>
          <a:p/>
        </p:txBody>
      </p:sp>
      <p:sp>
        <p:nvSpPr>
          <p:cNvPr id="620" name="TextBox 619"/>
          <p:cNvSpPr txBox="1"/>
          <p:nvPr/>
        </p:nvSpPr>
        <p:spPr>
          <a:xfrm>
            <a:off x="457200" y="8229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005A57"/>
                </a:solidFill>
                <a:latin typeface="Calibri"/>
              </a:rPr>
              <a:t>05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502920" y="24688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GitHub Actions — CI/CD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502920" y="4251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3EEEA"/>
                </a:solidFill>
                <a:latin typeface="Calibri"/>
              </a:rPr>
              <a:t>Trunk-Based  |  Security Gates  |  GitOps Write-back  |  Prod Promotion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20" name="s620"/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21" name="s621"/>
          <p:cNvSpPr>
            <a:spLocks noGrp="1"/>
          </p:cNvSpPr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06E6B"/>
          </a:solidFill>
          <a:ln>
            <a:noFill/>
          </a:ln>
        </p:spPr>
        <p:txBody>
          <a:bodyPr/>
          <a:lstStyle/>
          <a:p/>
        </p:txBody>
      </p:sp>
      <p:sp>
        <p:nvSpPr>
          <p:cNvPr id="622" name="TextBox 621"/>
          <p:cNvSpPr txBox="1"/>
          <p:nvPr/>
        </p:nvSpPr>
        <p:spPr>
          <a:xfrm>
            <a:off x="32004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GitHub Actions — Architecture &amp; Branching Strategy</a:t>
            </a:r>
          </a:p>
        </p:txBody>
      </p:sp>
      <p:sp>
        <p:nvSpPr>
          <p:cNvPr id="622" name="s622"/>
          <p:cNvSpPr>
            <a:spLocks noGrp="1"/>
          </p:cNvSpPr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80E2A"/>
          </a:solidFill>
          <a:ln>
            <a:noFill/>
          </a:ln>
        </p:spPr>
        <p:txBody>
          <a:bodyPr/>
          <a:lstStyle/>
          <a:p/>
        </p:txBody>
      </p:sp>
      <p:sp>
        <p:nvSpPr>
          <p:cNvPr id="623" name="TextBox 622"/>
          <p:cNvSpPr txBox="1"/>
          <p:nvPr/>
        </p:nvSpPr>
        <p:spPr>
          <a:xfrm>
            <a:off x="32004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65F91"/>
                </a:solidFill>
                <a:latin typeface="Calibri"/>
              </a:rPr>
              <a:t>LabLumen  |  Cloud Native Microservices Platform  |  DevOps Capstone 2026</a:t>
            </a:r>
          </a:p>
        </p:txBody>
      </p:sp>
      <p:sp>
        <p:nvSpPr>
          <p:cNvPr id="623" name="s623"/>
          <p:cNvSpPr>
            <a:spLocks noGrp="1"/>
          </p:cNvSpPr>
          <p:nvPr/>
        </p:nvSpPr>
        <p:spPr>
          <a:xfrm>
            <a:off x="320040" y="1124712"/>
            <a:ext cx="5440680" cy="265176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24" name="s624"/>
          <p:cNvSpPr>
            <a:spLocks noGrp="1"/>
          </p:cNvSpPr>
          <p:nvPr/>
        </p:nvSpPr>
        <p:spPr>
          <a:xfrm>
            <a:off x="320040" y="1124712"/>
            <a:ext cx="544068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25" name="TextBox 624"/>
          <p:cNvSpPr txBox="1"/>
          <p:nvPr/>
        </p:nvSpPr>
        <p:spPr>
          <a:xfrm>
            <a:off x="429768" y="1197864"/>
            <a:ext cx="5221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Polyrepo Structure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457200" y="1536192"/>
            <a:ext cx="51663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5 service repos  —  one per microservice / frontend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1 shared repo  (lablumen-shared)  —  reusable workflow engine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Called by all service repos via  uses: lablumen/lablumen-shared/...@main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Single source of CI truth  —  no logic duplication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lablumen-k8s  —  GitOps values repo (image tags, config)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lablumen-terraform  —  IaC repo (separate pipeline)</a:t>
            </a:r>
          </a:p>
        </p:txBody>
      </p:sp>
      <p:sp>
        <p:nvSpPr>
          <p:cNvPr id="625" name="s625"/>
          <p:cNvSpPr>
            <a:spLocks noGrp="1"/>
          </p:cNvSpPr>
          <p:nvPr/>
        </p:nvSpPr>
        <p:spPr>
          <a:xfrm>
            <a:off x="320040" y="3959352"/>
            <a:ext cx="5440680" cy="246888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26" name="s626"/>
          <p:cNvSpPr>
            <a:spLocks noGrp="1"/>
          </p:cNvSpPr>
          <p:nvPr/>
        </p:nvSpPr>
        <p:spPr>
          <a:xfrm>
            <a:off x="320040" y="3959352"/>
            <a:ext cx="544068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27" name="TextBox 626"/>
          <p:cNvSpPr txBox="1"/>
          <p:nvPr/>
        </p:nvSpPr>
        <p:spPr>
          <a:xfrm>
            <a:off x="429768" y="4032504"/>
            <a:ext cx="5221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Trunk-Based Development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457200" y="4370832"/>
            <a:ext cx="5166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All work on short-lived  feature/*  branches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Direct push to  main  is BLOCKED  by branch protection rules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PRs required to merge  —  triggers full 4-gate security pipeline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Merge to main  →  automatic build + dev deploy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Short-lived branches, fast integration, no merge conflicts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>▶  GitHub Release  (semver)  →  production promotion</a:t>
            </a:r>
          </a:p>
        </p:txBody>
      </p:sp>
      <p:sp>
        <p:nvSpPr>
          <p:cNvPr id="627" name="s627"/>
          <p:cNvSpPr>
            <a:spLocks noGrp="1"/>
          </p:cNvSpPr>
          <p:nvPr/>
        </p:nvSpPr>
        <p:spPr>
          <a:xfrm>
            <a:off x="6080760" y="1124712"/>
            <a:ext cx="5806440" cy="525780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28" name="s628"/>
          <p:cNvSpPr>
            <a:spLocks noGrp="1"/>
          </p:cNvSpPr>
          <p:nvPr/>
        </p:nvSpPr>
        <p:spPr>
          <a:xfrm>
            <a:off x="6080760" y="1124712"/>
            <a:ext cx="580644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29" name="TextBox 628"/>
          <p:cNvSpPr txBox="1"/>
          <p:nvPr/>
        </p:nvSpPr>
        <p:spPr>
          <a:xfrm>
            <a:off x="6190488" y="1197864"/>
            <a:ext cx="5586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3 Reusable Workflow Templates  (lablumen-shared)</a:t>
            </a:r>
          </a:p>
        </p:txBody>
      </p:sp>
      <p:sp>
        <p:nvSpPr>
          <p:cNvPr id="630" name="TextBox 629"/>
          <p:cNvSpPr txBox="1"/>
          <p:nvPr/>
        </p:nvSpPr>
        <p:spPr>
          <a:xfrm>
            <a:off x="6217920" y="1536192"/>
            <a:ext cx="55321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 b="0">
                <a:solidFill>
                  <a:srgbClr val="00ACA2"/>
                </a:solidFill>
                <a:latin typeface="Calibri"/>
              </a:rPr>
              <a:t>▶  service-pr.yml  —  PR security gate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Ruff lint + Pytest  (hard-fail)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SonarCloud SAST + quality gate  (blocks on fail)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Snyk SCA  (severity-threshold = high, hard-fail)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Trivy container scan  (CRITICAL/HIGH, image never pushed)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00ACA2"/>
                </a:solidFill>
                <a:latin typeface="Calibri"/>
              </a:rPr>
              <a:t>▶  service-build-push.yml  —  merge → dev deploy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Docker multistage build  →  Trivy gate  →  ECR push  (OIDC)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yq bumps  values-dev.yaml  in lablumen-k8s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git pull --rebase  retry loop  (race-safe for concurrent services)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ArgoCD detects diff  →  auto-syncs lablumen-dev  (~30s)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CDD7E8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00ACA2"/>
                </a:solidFill>
                <a:latin typeface="Calibri"/>
              </a:rPr>
              <a:t>▶  service-release.yml  —  GitHub Release → prod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ECR manifest copy:  :sha  →  :v1.2.0  (no rebuild, immutable safe)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yq bumps  values-prod.yaml  →  ArgoCD syncs lablumen (prod)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AAB9D2"/>
                </a:solidFill>
                <a:latin typeface="Calibri"/>
              </a:rPr>
              <a:t>    •  Build-once / promote-by-retag:  exact binary from dev reaches prod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29" name="s629"/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30" name="s630"/>
          <p:cNvSpPr>
            <a:spLocks noGrp="1"/>
          </p:cNvSpPr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06E6B"/>
          </a:solidFill>
          <a:ln>
            <a:noFill/>
          </a:ln>
        </p:spPr>
        <p:txBody>
          <a:bodyPr/>
          <a:lstStyle/>
          <a:p/>
        </p:txBody>
      </p:sp>
      <p:sp>
        <p:nvSpPr>
          <p:cNvPr id="631" name="TextBox 630"/>
          <p:cNvSpPr txBox="1"/>
          <p:nvPr/>
        </p:nvSpPr>
        <p:spPr>
          <a:xfrm>
            <a:off x="32004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PR Security Gate  (service-pr.yml)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320040" y="7589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3EEEA"/>
                </a:solidFill>
                <a:latin typeface="Calibri"/>
              </a:rPr>
              <a:t>All 4 jobs are hard-fail — code cannot reach main without passing all simultaneously</a:t>
            </a:r>
          </a:p>
        </p:txBody>
      </p:sp>
      <p:sp>
        <p:nvSpPr>
          <p:cNvPr id="631" name="s631"/>
          <p:cNvSpPr>
            <a:spLocks noGrp="1"/>
          </p:cNvSpPr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80E2A"/>
          </a:solidFill>
          <a:ln>
            <a:noFill/>
          </a:ln>
        </p:spPr>
        <p:txBody>
          <a:bodyPr/>
          <a:lstStyle/>
          <a:p/>
        </p:txBody>
      </p:sp>
      <p:sp>
        <p:nvSpPr>
          <p:cNvPr id="633" name="TextBox 632"/>
          <p:cNvSpPr txBox="1"/>
          <p:nvPr/>
        </p:nvSpPr>
        <p:spPr>
          <a:xfrm>
            <a:off x="32004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65F91"/>
                </a:solidFill>
                <a:latin typeface="Calibri"/>
              </a:rPr>
              <a:t>LabLumen  |  Cloud Native Microservices Platform  |  DevOps Capstone 2026</a:t>
            </a:r>
          </a:p>
        </p:txBody>
      </p:sp>
      <p:sp>
        <p:nvSpPr>
          <p:cNvPr id="632" name="s632"/>
          <p:cNvSpPr>
            <a:spLocks noGrp="1"/>
          </p:cNvSpPr>
          <p:nvPr/>
        </p:nvSpPr>
        <p:spPr>
          <a:xfrm>
            <a:off x="320040" y="1536192"/>
            <a:ext cx="2377440" cy="1508760"/>
          </a:xfrm>
          <a:prstGeom prst="rect">
            <a:avLst/>
          </a:prstGeom>
          <a:solidFill>
            <a:srgbClr val="101C44"/>
          </a:solidFill>
          <a:ln w="12700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33" name="s633"/>
          <p:cNvSpPr>
            <a:spLocks noGrp="1"/>
          </p:cNvSpPr>
          <p:nvPr/>
        </p:nvSpPr>
        <p:spPr>
          <a:xfrm>
            <a:off x="320040" y="1536192"/>
            <a:ext cx="2377440" cy="274320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34" name="TextBox 633"/>
          <p:cNvSpPr txBox="1"/>
          <p:nvPr/>
        </p:nvSpPr>
        <p:spPr>
          <a:xfrm>
            <a:off x="411480" y="158191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lint-and-test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411480" y="185623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CA2"/>
                </a:solidFill>
                <a:latin typeface="Calibri"/>
              </a:rPr>
              <a:t>Ruff + Pytest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411480" y="2359152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DD7E8"/>
                </a:solidFill>
                <a:latin typeface="Calibri"/>
              </a:rPr>
              <a:t>Python linter
+ unit tests
(hard-fail)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2743200" y="21305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ACA2"/>
                </a:solidFill>
                <a:latin typeface="Calibri"/>
              </a:rPr>
              <a:t>→</a:t>
            </a:r>
          </a:p>
        </p:txBody>
      </p:sp>
      <p:sp>
        <p:nvSpPr>
          <p:cNvPr id="634" name="s634"/>
          <p:cNvSpPr>
            <a:spLocks noGrp="1"/>
          </p:cNvSpPr>
          <p:nvPr/>
        </p:nvSpPr>
        <p:spPr>
          <a:xfrm>
            <a:off x="3383280" y="1536192"/>
            <a:ext cx="2377440" cy="1508760"/>
          </a:xfrm>
          <a:prstGeom prst="rect">
            <a:avLst/>
          </a:prstGeom>
          <a:solidFill>
            <a:srgbClr val="101C44"/>
          </a:solidFill>
          <a:ln w="12700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35" name="s635"/>
          <p:cNvSpPr>
            <a:spLocks noGrp="1"/>
          </p:cNvSpPr>
          <p:nvPr/>
        </p:nvSpPr>
        <p:spPr>
          <a:xfrm>
            <a:off x="3383280" y="1536192"/>
            <a:ext cx="2377440" cy="274320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38" name="TextBox 637"/>
          <p:cNvSpPr txBox="1"/>
          <p:nvPr/>
        </p:nvSpPr>
        <p:spPr>
          <a:xfrm>
            <a:off x="3474720" y="158191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sast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3474720" y="185623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CA2"/>
                </a:solidFill>
                <a:latin typeface="Calibri"/>
              </a:rPr>
              <a:t>SonarCloud
SAST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3474720" y="2359152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DD7E8"/>
                </a:solidFill>
                <a:latin typeface="Calibri"/>
              </a:rPr>
              <a:t>Full static
analysis +
quality gate wait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5806440" y="21305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ACA2"/>
                </a:solidFill>
                <a:latin typeface="Calibri"/>
              </a:rPr>
              <a:t>→</a:t>
            </a:r>
          </a:p>
        </p:txBody>
      </p:sp>
      <p:sp>
        <p:nvSpPr>
          <p:cNvPr id="636" name="s636"/>
          <p:cNvSpPr>
            <a:spLocks noGrp="1"/>
          </p:cNvSpPr>
          <p:nvPr/>
        </p:nvSpPr>
        <p:spPr>
          <a:xfrm>
            <a:off x="6446520" y="1536192"/>
            <a:ext cx="2377440" cy="1508760"/>
          </a:xfrm>
          <a:prstGeom prst="rect">
            <a:avLst/>
          </a:prstGeom>
          <a:solidFill>
            <a:srgbClr val="101C44"/>
          </a:solidFill>
          <a:ln w="12700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37" name="s637"/>
          <p:cNvSpPr>
            <a:spLocks noGrp="1"/>
          </p:cNvSpPr>
          <p:nvPr/>
        </p:nvSpPr>
        <p:spPr>
          <a:xfrm>
            <a:off x="6446520" y="1536192"/>
            <a:ext cx="2377440" cy="274320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42" name="TextBox 641"/>
          <p:cNvSpPr txBox="1"/>
          <p:nvPr/>
        </p:nvSpPr>
        <p:spPr>
          <a:xfrm>
            <a:off x="6537960" y="158191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sca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6537960" y="185623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CA2"/>
                </a:solidFill>
                <a:latin typeface="Calibri"/>
              </a:rPr>
              <a:t>Snyk
SCA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6537960" y="2359152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DD7E8"/>
                </a:solidFill>
                <a:latin typeface="Calibri"/>
              </a:rPr>
              <a:t>Dependency
vuln scan
high threshold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8869680" y="21305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ACA2"/>
                </a:solidFill>
                <a:latin typeface="Calibri"/>
              </a:rPr>
              <a:t>→</a:t>
            </a:r>
          </a:p>
        </p:txBody>
      </p:sp>
      <p:sp>
        <p:nvSpPr>
          <p:cNvPr id="638" name="s638"/>
          <p:cNvSpPr>
            <a:spLocks noGrp="1"/>
          </p:cNvSpPr>
          <p:nvPr/>
        </p:nvSpPr>
        <p:spPr>
          <a:xfrm>
            <a:off x="9509760" y="1536192"/>
            <a:ext cx="2377440" cy="1508760"/>
          </a:xfrm>
          <a:prstGeom prst="rect">
            <a:avLst/>
          </a:prstGeom>
          <a:solidFill>
            <a:srgbClr val="101C44"/>
          </a:solidFill>
          <a:ln w="12700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39" name="s639"/>
          <p:cNvSpPr>
            <a:spLocks noGrp="1"/>
          </p:cNvSpPr>
          <p:nvPr/>
        </p:nvSpPr>
        <p:spPr>
          <a:xfrm>
            <a:off x="9509760" y="1536192"/>
            <a:ext cx="2377440" cy="274320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46" name="TextBox 645"/>
          <p:cNvSpPr txBox="1"/>
          <p:nvPr/>
        </p:nvSpPr>
        <p:spPr>
          <a:xfrm>
            <a:off x="9601200" y="158191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container-scan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9601200" y="185623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CA2"/>
                </a:solidFill>
                <a:latin typeface="Calibri"/>
              </a:rPr>
              <a:t>Trivy
Container Scan</a:t>
            </a:r>
          </a:p>
        </p:txBody>
      </p:sp>
      <p:sp>
        <p:nvSpPr>
          <p:cNvPr id="648" name="TextBox 647"/>
          <p:cNvSpPr txBox="1"/>
          <p:nvPr/>
        </p:nvSpPr>
        <p:spPr>
          <a:xfrm>
            <a:off x="9601200" y="2359152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DD7E8"/>
                </a:solidFill>
                <a:latin typeface="Calibri"/>
              </a:rPr>
              <a:t>Builds image
locally, never
pushed to ECR</a:t>
            </a:r>
          </a:p>
        </p:txBody>
      </p:sp>
      <p:sp>
        <p:nvSpPr>
          <p:cNvPr id="649" name="TextBox 648"/>
          <p:cNvSpPr txBox="1"/>
          <p:nvPr/>
        </p:nvSpPr>
        <p:spPr>
          <a:xfrm>
            <a:off x="320040" y="322783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DD7E8"/>
                </a:solidFill>
                <a:latin typeface="Calibri"/>
              </a:rPr>
              <a:t>Triggered on every pull_request event across all 5 service repositories</a:t>
            </a:r>
          </a:p>
        </p:txBody>
      </p:sp>
      <p:sp>
        <p:nvSpPr>
          <p:cNvPr id="640" name="s640"/>
          <p:cNvSpPr>
            <a:spLocks noGrp="1"/>
          </p:cNvSpPr>
          <p:nvPr/>
        </p:nvSpPr>
        <p:spPr>
          <a:xfrm>
            <a:off x="320040" y="3685032"/>
            <a:ext cx="5669280" cy="246888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41" name="s641"/>
          <p:cNvSpPr>
            <a:spLocks noGrp="1"/>
          </p:cNvSpPr>
          <p:nvPr/>
        </p:nvSpPr>
        <p:spPr>
          <a:xfrm>
            <a:off x="320040" y="3685032"/>
            <a:ext cx="566928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50" name="TextBox 649"/>
          <p:cNvSpPr txBox="1"/>
          <p:nvPr/>
        </p:nvSpPr>
        <p:spPr>
          <a:xfrm>
            <a:off x="429768" y="3758184"/>
            <a:ext cx="5449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What each gate catches</a:t>
            </a:r>
          </a:p>
        </p:txBody>
      </p:sp>
      <p:sp>
        <p:nvSpPr>
          <p:cNvPr id="651" name="TextBox 650"/>
          <p:cNvSpPr txBox="1"/>
          <p:nvPr/>
        </p:nvSpPr>
        <p:spPr>
          <a:xfrm>
            <a:off x="457200" y="4096512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00" b="0">
                <a:solidFill>
                  <a:srgbClr val="00ACA2"/>
                </a:solidFill>
                <a:latin typeface="Calibri"/>
              </a:rPr>
              <a:t>  Ruff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Python code style violations, unused imports, type errors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00ACA2"/>
                </a:solidFill>
                <a:latin typeface="Calibri"/>
              </a:rPr>
              <a:t>  Pytest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Unit test failures, regressions in business logic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00ACA2"/>
                </a:solidFill>
                <a:latin typeface="Calibri"/>
              </a:rPr>
              <a:t>  SonarCloud SAST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SQL injection, hardcoded secrets, code smells, coverage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00ACA2"/>
                </a:solidFill>
                <a:latin typeface="Calibri"/>
              </a:rPr>
              <a:t>  Snyk SCA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Known CVEs in pip dependencies  (high severity threshold)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00ACA2"/>
                </a:solidFill>
                <a:latin typeface="Calibri"/>
              </a:rPr>
              <a:t>  Trivy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OS + library CVEs in the container image  (CRITICAL/HIGH)</a:t>
            </a:r>
          </a:p>
        </p:txBody>
      </p:sp>
      <p:sp>
        <p:nvSpPr>
          <p:cNvPr id="642" name="s642"/>
          <p:cNvSpPr>
            <a:spLocks noGrp="1"/>
          </p:cNvSpPr>
          <p:nvPr/>
        </p:nvSpPr>
        <p:spPr>
          <a:xfrm>
            <a:off x="6172200" y="3685032"/>
            <a:ext cx="5669280" cy="246888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43" name="s643"/>
          <p:cNvSpPr>
            <a:spLocks noGrp="1"/>
          </p:cNvSpPr>
          <p:nvPr/>
        </p:nvSpPr>
        <p:spPr>
          <a:xfrm>
            <a:off x="6172200" y="3685032"/>
            <a:ext cx="566928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52" name="TextBox 651"/>
          <p:cNvSpPr txBox="1"/>
          <p:nvPr/>
        </p:nvSpPr>
        <p:spPr>
          <a:xfrm>
            <a:off x="6281928" y="3758184"/>
            <a:ext cx="5449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Why this order matters</a:t>
            </a:r>
          </a:p>
        </p:txBody>
      </p:sp>
      <p:sp>
        <p:nvSpPr>
          <p:cNvPr id="653" name="TextBox 652"/>
          <p:cNvSpPr txBox="1"/>
          <p:nvPr/>
        </p:nvSpPr>
        <p:spPr>
          <a:xfrm>
            <a:off x="6309360" y="4096512"/>
            <a:ext cx="5440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00" b="0">
                <a:solidFill>
                  <a:srgbClr val="CDD7E8"/>
                </a:solidFill>
                <a:latin typeface="Calibri"/>
              </a:rPr>
              <a:t>▶  lint-and-test  runs first  —  fast feedback, cheap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CDD7E8"/>
                </a:solidFill>
                <a:latin typeface="Calibri"/>
              </a:rPr>
              <a:t>▶  sast, sca, container-scan  run in PARALLEL after lint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All 3 must pass for merge to unblock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CDD7E8"/>
                </a:solidFill>
                <a:latin typeface="Calibri"/>
              </a:rPr>
              <a:t>▶  Container image is built locally and scanned but NEVER pushed to ECR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Push only happens after merge to main (build-push workflow)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CDD7E8"/>
                </a:solidFill>
                <a:latin typeface="Calibri"/>
              </a:rPr>
              <a:t>▶  Quality gate  (sonar)  waits for analysis completion before returning result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CDD7E8"/>
                </a:solidFill>
                <a:latin typeface="Calibri"/>
              </a:rPr>
              <a:t>▶  No credentials needed for PR gate  —  zero AWS access required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44" name="s644"/>
          <p:cNvSpPr>
            <a:spLocks noGrp="1"/>
          </p:cNvSpPr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000000"/>
          </a:solidFill>
          <a:ln w="31750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45" name="TextBox 644"/>
          <p:cNvSpPr txBox="1"/>
          <p:nvPr/>
        </p:nvSpPr>
        <p:spPr>
          <a:xfrm>
            <a:off x="914400" y="12801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05050"/>
                </a:solidFill>
                <a:latin typeface="Calibri"/>
              </a:rPr>
              <a:t>[ Screenshot / Diagram Placeholder ]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548640" y="228600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CA2"/>
                </a:solidFill>
                <a:latin typeface="Calibri"/>
              </a:rPr>
              <a:t>CI Pipeline Run Screenshot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1371600" y="457200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6464"/>
                </a:solidFill>
                <a:latin typeface="Calibri"/>
              </a:rPr>
              <a:t>Show: GitHub Actions run with pr / deploy-dev jobs, status Success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45" name="s645"/>
          <p:cNvSpPr>
            <a:spLocks noGrp="1"/>
          </p:cNvSpPr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000000"/>
          </a:solidFill>
          <a:ln w="31750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46" name="TextBox 645"/>
          <p:cNvSpPr txBox="1"/>
          <p:nvPr/>
        </p:nvSpPr>
        <p:spPr>
          <a:xfrm>
            <a:off x="914400" y="12801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05050"/>
                </a:solidFill>
                <a:latin typeface="Calibri"/>
              </a:rPr>
              <a:t>[ Screenshot / Diagram Placeholder ]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548640" y="228600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CA2"/>
                </a:solidFill>
                <a:latin typeface="Calibri"/>
              </a:rPr>
              <a:t>SonarCloud SAST Screenshot</a:t>
            </a:r>
          </a:p>
        </p:txBody>
      </p:sp>
      <p:sp>
        <p:nvSpPr>
          <p:cNvPr id="648" name="TextBox 647"/>
          <p:cNvSpPr txBox="1"/>
          <p:nvPr/>
        </p:nvSpPr>
        <p:spPr>
          <a:xfrm>
            <a:off x="1371600" y="457200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6464"/>
                </a:solidFill>
                <a:latin typeface="Calibri"/>
              </a:rPr>
              <a:t>Show: Project analysis, quality gate PASSED, code smells / coverage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46" name="s646"/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47" name="s647"/>
          <p:cNvSpPr>
            <a:spLocks noGrp="1"/>
          </p:cNvSpPr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06E6B"/>
          </a:solidFill>
          <a:ln>
            <a:noFill/>
          </a:ln>
        </p:spPr>
        <p:txBody>
          <a:bodyPr/>
          <a:lstStyle/>
          <a:p/>
        </p:txBody>
      </p:sp>
      <p:sp>
        <p:nvSpPr>
          <p:cNvPr id="648" name="TextBox 647"/>
          <p:cNvSpPr txBox="1"/>
          <p:nvPr/>
        </p:nvSpPr>
        <p:spPr>
          <a:xfrm>
            <a:off x="32004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CI/CD — Dev Deploy &amp; Production Release</a:t>
            </a:r>
          </a:p>
        </p:txBody>
      </p:sp>
      <p:sp>
        <p:nvSpPr>
          <p:cNvPr id="648" name="s648"/>
          <p:cNvSpPr>
            <a:spLocks noGrp="1"/>
          </p:cNvSpPr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80E2A"/>
          </a:solidFill>
          <a:ln>
            <a:noFill/>
          </a:ln>
        </p:spPr>
        <p:txBody>
          <a:bodyPr/>
          <a:lstStyle/>
          <a:p/>
        </p:txBody>
      </p:sp>
      <p:sp>
        <p:nvSpPr>
          <p:cNvPr id="649" name="TextBox 648"/>
          <p:cNvSpPr txBox="1"/>
          <p:nvPr/>
        </p:nvSpPr>
        <p:spPr>
          <a:xfrm>
            <a:off x="32004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65F91"/>
                </a:solidFill>
                <a:latin typeface="Calibri"/>
              </a:rPr>
              <a:t>LabLumen  |  Cloud Native Microservices Platform  |  DevOps Capstone 2026</a:t>
            </a:r>
          </a:p>
        </p:txBody>
      </p:sp>
      <p:sp>
        <p:nvSpPr>
          <p:cNvPr id="649" name="s649"/>
          <p:cNvSpPr>
            <a:spLocks noGrp="1"/>
          </p:cNvSpPr>
          <p:nvPr/>
        </p:nvSpPr>
        <p:spPr>
          <a:xfrm>
            <a:off x="320040" y="1124712"/>
            <a:ext cx="5623560" cy="525780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50" name="s650"/>
          <p:cNvSpPr>
            <a:spLocks noGrp="1"/>
          </p:cNvSpPr>
          <p:nvPr/>
        </p:nvSpPr>
        <p:spPr>
          <a:xfrm>
            <a:off x="320040" y="1124712"/>
            <a:ext cx="562356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51" name="TextBox 650"/>
          <p:cNvSpPr txBox="1"/>
          <p:nvPr/>
        </p:nvSpPr>
        <p:spPr>
          <a:xfrm>
            <a:off x="429768" y="1197864"/>
            <a:ext cx="54041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Dev Deploy  (service-build-push.yml)  —  merge to main</a:t>
            </a:r>
          </a:p>
        </p:txBody>
      </p:sp>
      <p:sp>
        <p:nvSpPr>
          <p:cNvPr id="652" name="TextBox 651"/>
          <p:cNvSpPr txBox="1"/>
          <p:nvPr/>
        </p:nvSpPr>
        <p:spPr>
          <a:xfrm>
            <a:off x="457200" y="1536192"/>
            <a:ext cx="54406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1.  Checkout  +  compute 7-char git SHA tag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Short SHA used as immutable image tag in ECR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2.  Configure AWS via GitHub OIDC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Assumes  lablumen-app-ci-ecr  role  —  no static keys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3.  Docker multistage build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builder stage  →  /opt/venv  |  runtime stage  →  non-root uid 10001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4.  Trivy container scan  (CRITICAL/HIGH = abort)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Runs against built image before any push to ECR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5.  Push  lablumen/&lt;svc&gt;:&lt;sha&gt;  to ECR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KMS-encrypted ECR, immutable tags, SHA is unique per commit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6.  GitOps write-back  to lablumen-k8s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yq  sets  .image.tag = &lt;sha&gt;  in  services/&lt;svc&gt;/values-dev.yaml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git pull --rebase  retry loop  (up to 5 retries)  —  race-safe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for concurrent pushes from multiple service repos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32C85A"/>
                </a:solidFill>
                <a:latin typeface="Calibri"/>
              </a:rPr>
              <a:t>7.  ArgoCD detects diff  →  auto-syncs  lablumen-dev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New pod with updated image running in ~30 seconds</a:t>
            </a:r>
          </a:p>
        </p:txBody>
      </p:sp>
      <p:sp>
        <p:nvSpPr>
          <p:cNvPr id="651" name="s651"/>
          <p:cNvSpPr>
            <a:spLocks noGrp="1"/>
          </p:cNvSpPr>
          <p:nvPr/>
        </p:nvSpPr>
        <p:spPr>
          <a:xfrm>
            <a:off x="5989320" y="1124712"/>
            <a:ext cx="5897880" cy="525780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52" name="s652"/>
          <p:cNvSpPr>
            <a:spLocks noGrp="1"/>
          </p:cNvSpPr>
          <p:nvPr/>
        </p:nvSpPr>
        <p:spPr>
          <a:xfrm>
            <a:off x="5989320" y="1124712"/>
            <a:ext cx="589788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53" name="TextBox 652"/>
          <p:cNvSpPr txBox="1"/>
          <p:nvPr/>
        </p:nvSpPr>
        <p:spPr>
          <a:xfrm>
            <a:off x="6099048" y="1197864"/>
            <a:ext cx="5678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Production Release  (service-release.yml)</a:t>
            </a:r>
          </a:p>
        </p:txBody>
      </p:sp>
      <p:sp>
        <p:nvSpPr>
          <p:cNvPr id="654" name="TextBox 653"/>
          <p:cNvSpPr txBox="1"/>
          <p:nvPr/>
        </p:nvSpPr>
        <p:spPr>
          <a:xfrm>
            <a:off x="6126480" y="1536192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00" b="0">
                <a:solidFill>
                  <a:srgbClr val="FF9114"/>
                </a:solidFill>
                <a:latin typeface="Calibri"/>
              </a:rPr>
              <a:t>▶  Trigger: GitHub Release published  (e.g.  v1.2.0)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Release must be created on the commit already in DEV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00ACA2"/>
                </a:solidFill>
                <a:latin typeface="Calibri"/>
              </a:rPr>
              <a:t>▶  Build-once / Promote-by-retag  strategy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Does NOT rebuild the image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The exact binary that passed all tests in DEV reaches PROD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▶  ECR manifest copy  (retag):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batch-get-image  →  get manifest for  :sha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put-image  →  write  :v1.2.0  (new tag, idempotent)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Works with IMMUTABLE ECR repos (semver tag is new)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No layer re-upload  —  just a new tag pointer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▶  GitOps write-back  to lablumen-k8s: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yq  sets  .image.tag = v1.2.0  in  values-prod.yaml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rebase-retry loop for concurrent service releases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32C85A"/>
                </a:solidFill>
                <a:latin typeface="Calibri"/>
              </a:rPr>
              <a:t>▶  ArgoCD syncs  lablumen  (prod)  namespace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Zero-downtime rolling update, PDB protects availability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53" name="s653"/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54" name="s654"/>
          <p:cNvSpPr>
            <a:spLocks noGrp="1"/>
          </p:cNvSpPr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06E6B"/>
          </a:solidFill>
          <a:ln>
            <a:noFill/>
          </a:ln>
        </p:spPr>
        <p:txBody>
          <a:bodyPr/>
          <a:lstStyle/>
          <a:p/>
        </p:txBody>
      </p:sp>
      <p:sp>
        <p:nvSpPr>
          <p:cNvPr id="655" name="TextBox 654"/>
          <p:cNvSpPr txBox="1"/>
          <p:nvPr/>
        </p:nvSpPr>
        <p:spPr>
          <a:xfrm>
            <a:off x="32004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Terraform Pipeline</a:t>
            </a:r>
          </a:p>
        </p:txBody>
      </p:sp>
      <p:sp>
        <p:nvSpPr>
          <p:cNvPr id="656" name="TextBox 655"/>
          <p:cNvSpPr txBox="1"/>
          <p:nvPr/>
        </p:nvSpPr>
        <p:spPr>
          <a:xfrm>
            <a:off x="320040" y="7589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3EEEA"/>
                </a:solidFill>
                <a:latin typeface="Calibri"/>
              </a:rPr>
              <a:t>Triggered on *.tf / *.tfvars changes  or  workflow_dispatch</a:t>
            </a:r>
          </a:p>
        </p:txBody>
      </p:sp>
      <p:sp>
        <p:nvSpPr>
          <p:cNvPr id="655" name="s655"/>
          <p:cNvSpPr>
            <a:spLocks noGrp="1"/>
          </p:cNvSpPr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80E2A"/>
          </a:solidFill>
          <a:ln>
            <a:noFill/>
          </a:ln>
        </p:spPr>
        <p:txBody>
          <a:bodyPr/>
          <a:lstStyle/>
          <a:p/>
        </p:txBody>
      </p:sp>
      <p:sp>
        <p:nvSpPr>
          <p:cNvPr id="657" name="TextBox 656"/>
          <p:cNvSpPr txBox="1"/>
          <p:nvPr/>
        </p:nvSpPr>
        <p:spPr>
          <a:xfrm>
            <a:off x="32004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65F91"/>
                </a:solidFill>
                <a:latin typeface="Calibri"/>
              </a:rPr>
              <a:t>LabLumen  |  Cloud Native Microservices Platform  |  DevOps Capstone 2026</a:t>
            </a:r>
          </a:p>
        </p:txBody>
      </p:sp>
      <p:sp>
        <p:nvSpPr>
          <p:cNvPr id="656" name="s656"/>
          <p:cNvSpPr>
            <a:spLocks noGrp="1"/>
          </p:cNvSpPr>
          <p:nvPr/>
        </p:nvSpPr>
        <p:spPr>
          <a:xfrm>
            <a:off x="320040" y="1216152"/>
            <a:ext cx="2606040" cy="2377440"/>
          </a:xfrm>
          <a:prstGeom prst="rect">
            <a:avLst/>
          </a:prstGeom>
          <a:solidFill>
            <a:srgbClr val="101C44"/>
          </a:solidFill>
          <a:ln w="19050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58" name="TextBox 657"/>
          <p:cNvSpPr txBox="1"/>
          <p:nvPr/>
        </p:nvSpPr>
        <p:spPr>
          <a:xfrm>
            <a:off x="429768" y="12801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ACA2"/>
                </a:solidFill>
                <a:latin typeface="Calibri"/>
              </a:rPr>
              <a:t>1</a:t>
            </a:r>
          </a:p>
        </p:txBody>
      </p:sp>
      <p:sp>
        <p:nvSpPr>
          <p:cNvPr id="659" name="TextBox 658"/>
          <p:cNvSpPr txBox="1"/>
          <p:nvPr/>
        </p:nvSpPr>
        <p:spPr>
          <a:xfrm>
            <a:off x="429768" y="176479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Checkov
IaC Scan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429768" y="2404872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DD7E8"/>
                </a:solidFill>
                <a:latin typeface="Calibri"/>
              </a:rPr>
              <a:t>Scans all .tf files
for security issues
Uploads SARIF to
GitHub Security tab
Soft-fail (reports,
does not block now)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2999232" y="2084832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ACA2"/>
                </a:solidFill>
                <a:latin typeface="Calibri"/>
              </a:rPr>
              <a:t>→</a:t>
            </a:r>
          </a:p>
        </p:txBody>
      </p:sp>
      <p:sp>
        <p:nvSpPr>
          <p:cNvPr id="657" name="s657"/>
          <p:cNvSpPr>
            <a:spLocks noGrp="1"/>
          </p:cNvSpPr>
          <p:nvPr/>
        </p:nvSpPr>
        <p:spPr>
          <a:xfrm>
            <a:off x="3337560" y="1216152"/>
            <a:ext cx="2606040" cy="2377440"/>
          </a:xfrm>
          <a:prstGeom prst="rect">
            <a:avLst/>
          </a:prstGeom>
          <a:solidFill>
            <a:srgbClr val="101C44"/>
          </a:solidFill>
          <a:ln w="19050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62" name="TextBox 661"/>
          <p:cNvSpPr txBox="1"/>
          <p:nvPr/>
        </p:nvSpPr>
        <p:spPr>
          <a:xfrm>
            <a:off x="3447288" y="12801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ACA2"/>
                </a:solidFill>
                <a:latin typeface="Calibri"/>
              </a:rPr>
              <a:t>2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3447288" y="176479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Terraform Plan
+ Infracost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3447288" y="2404872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DD7E8"/>
                </a:solidFill>
                <a:latin typeface="Calibri"/>
              </a:rPr>
              <a:t>tf-plan OIDC role
(read-only + state)
fmt-check + validate
+ plan -out tfplan
Infracost estimate
posted as PR comment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6016752" y="2084832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114"/>
                </a:solidFill>
                <a:latin typeface="Calibri"/>
              </a:rPr>
              <a:t>→</a:t>
            </a:r>
          </a:p>
        </p:txBody>
      </p:sp>
      <p:sp>
        <p:nvSpPr>
          <p:cNvPr id="658" name="s658"/>
          <p:cNvSpPr>
            <a:spLocks noGrp="1"/>
          </p:cNvSpPr>
          <p:nvPr/>
        </p:nvSpPr>
        <p:spPr>
          <a:xfrm>
            <a:off x="6355080" y="1216152"/>
            <a:ext cx="2606040" cy="2377440"/>
          </a:xfrm>
          <a:prstGeom prst="rect">
            <a:avLst/>
          </a:prstGeom>
          <a:solidFill>
            <a:srgbClr val="321E0A"/>
          </a:solidFill>
          <a:ln w="19050">
            <a:solidFill>
              <a:srgbClr val="FF9114"/>
            </a:solidFill>
          </a:ln>
        </p:spPr>
        <p:txBody>
          <a:bodyPr/>
          <a:lstStyle/>
          <a:p/>
        </p:txBody>
      </p:sp>
      <p:sp>
        <p:nvSpPr>
          <p:cNvPr id="666" name="TextBox 665"/>
          <p:cNvSpPr txBox="1"/>
          <p:nvPr/>
        </p:nvSpPr>
        <p:spPr>
          <a:xfrm>
            <a:off x="6464808" y="12801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9114"/>
                </a:solidFill>
                <a:latin typeface="Calibri"/>
              </a:rPr>
              <a:t>3</a:t>
            </a:r>
          </a:p>
        </p:txBody>
      </p:sp>
      <p:sp>
        <p:nvSpPr>
          <p:cNvPr id="667" name="TextBox 666"/>
          <p:cNvSpPr txBox="1"/>
          <p:nvPr/>
        </p:nvSpPr>
        <p:spPr>
          <a:xfrm>
            <a:off x="6464808" y="176479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Manual
Approval Gate</a:t>
            </a:r>
          </a:p>
        </p:txBody>
      </p:sp>
      <p:sp>
        <p:nvSpPr>
          <p:cNvPr id="668" name="TextBox 667"/>
          <p:cNvSpPr txBox="1"/>
          <p:nvPr/>
        </p:nvSpPr>
        <p:spPr>
          <a:xfrm>
            <a:off x="6464808" y="2404872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DD7E8"/>
                </a:solidFill>
                <a:latin typeface="Calibri"/>
              </a:rPr>
              <a:t>GitHub Environment
'production'
Required reviewers
must approve
Runs on main only,
not on PRs</a:t>
            </a:r>
          </a:p>
        </p:txBody>
      </p:sp>
      <p:sp>
        <p:nvSpPr>
          <p:cNvPr id="669" name="TextBox 668"/>
          <p:cNvSpPr txBox="1"/>
          <p:nvPr/>
        </p:nvSpPr>
        <p:spPr>
          <a:xfrm>
            <a:off x="9034272" y="2084832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ACA2"/>
                </a:solidFill>
                <a:latin typeface="Calibri"/>
              </a:rPr>
              <a:t>→</a:t>
            </a:r>
          </a:p>
        </p:txBody>
      </p:sp>
      <p:sp>
        <p:nvSpPr>
          <p:cNvPr id="659" name="s659"/>
          <p:cNvSpPr>
            <a:spLocks noGrp="1"/>
          </p:cNvSpPr>
          <p:nvPr/>
        </p:nvSpPr>
        <p:spPr>
          <a:xfrm>
            <a:off x="9372600" y="1216152"/>
            <a:ext cx="2606040" cy="2377440"/>
          </a:xfrm>
          <a:prstGeom prst="rect">
            <a:avLst/>
          </a:prstGeom>
          <a:solidFill>
            <a:srgbClr val="12321C"/>
          </a:solidFill>
          <a:ln w="19050">
            <a:solidFill>
              <a:srgbClr val="32C85A"/>
            </a:solidFill>
          </a:ln>
        </p:spPr>
        <p:txBody>
          <a:bodyPr/>
          <a:lstStyle/>
          <a:p/>
        </p:txBody>
      </p:sp>
      <p:sp>
        <p:nvSpPr>
          <p:cNvPr id="670" name="TextBox 669"/>
          <p:cNvSpPr txBox="1"/>
          <p:nvPr/>
        </p:nvSpPr>
        <p:spPr>
          <a:xfrm>
            <a:off x="9482328" y="12801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2C85A"/>
                </a:solidFill>
                <a:latin typeface="Calibri"/>
              </a:rPr>
              <a:t>4</a:t>
            </a:r>
          </a:p>
        </p:txBody>
      </p:sp>
      <p:sp>
        <p:nvSpPr>
          <p:cNvPr id="671" name="TextBox 670"/>
          <p:cNvSpPr txBox="1"/>
          <p:nvPr/>
        </p:nvSpPr>
        <p:spPr>
          <a:xfrm>
            <a:off x="9482328" y="176479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Terraform
Apply</a:t>
            </a:r>
          </a:p>
        </p:txBody>
      </p:sp>
      <p:sp>
        <p:nvSpPr>
          <p:cNvPr id="672" name="TextBox 671"/>
          <p:cNvSpPr txBox="1"/>
          <p:nvPr/>
        </p:nvSpPr>
        <p:spPr>
          <a:xfrm>
            <a:off x="9482328" y="2404872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DD7E8"/>
                </a:solidFill>
                <a:latin typeface="Calibri"/>
              </a:rPr>
              <a:t>tf-apply OIDC role
(admin permissions)
Downloads saved plan
applies exact plan
(no drift between
review and apply)</a:t>
            </a:r>
          </a:p>
        </p:txBody>
      </p:sp>
      <p:sp>
        <p:nvSpPr>
          <p:cNvPr id="660" name="s660"/>
          <p:cNvSpPr>
            <a:spLocks noGrp="1"/>
          </p:cNvSpPr>
          <p:nvPr/>
        </p:nvSpPr>
        <p:spPr>
          <a:xfrm>
            <a:off x="320040" y="3730752"/>
            <a:ext cx="5669280" cy="265176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61" name="s661"/>
          <p:cNvSpPr>
            <a:spLocks noGrp="1"/>
          </p:cNvSpPr>
          <p:nvPr/>
        </p:nvSpPr>
        <p:spPr>
          <a:xfrm>
            <a:off x="320040" y="3730752"/>
            <a:ext cx="566928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73" name="TextBox 672"/>
          <p:cNvSpPr txBox="1"/>
          <p:nvPr/>
        </p:nvSpPr>
        <p:spPr>
          <a:xfrm>
            <a:off x="429768" y="3803904"/>
            <a:ext cx="5449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Two separate OIDC roles by design</a:t>
            </a:r>
          </a:p>
        </p:txBody>
      </p:sp>
      <p:sp>
        <p:nvSpPr>
          <p:cNvPr id="674" name="TextBox 673"/>
          <p:cNvSpPr txBox="1"/>
          <p:nvPr/>
        </p:nvSpPr>
        <p:spPr>
          <a:xfrm>
            <a:off x="457200" y="4142232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000" b="0">
                <a:solidFill>
                  <a:srgbClr val="CDD7E8"/>
                </a:solidFill>
                <a:latin typeface="Calibri"/>
              </a:rPr>
              <a:t>▶  tf-plan  role  =  read-only + state bucket access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Can read all resources, but cannot create/modify/delete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Runs automatically on every PR and push to main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Safe to run without human oversight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CDD7E8"/>
                </a:solidFill>
                <a:latin typeface="Calibri"/>
              </a:rPr>
              <a:t>▶  tf-apply  role  =  full admin + EKS cluster-admin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Only runs after human approval via 'production' Environment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Applies the SAVED plan artifact (no re-plan on apply)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EKS cluster-admin needed for kubernetes_* resources</a:t>
            </a:r>
          </a:p>
        </p:txBody>
      </p:sp>
      <p:sp>
        <p:nvSpPr>
          <p:cNvPr id="662" name="s662"/>
          <p:cNvSpPr>
            <a:spLocks noGrp="1"/>
          </p:cNvSpPr>
          <p:nvPr/>
        </p:nvSpPr>
        <p:spPr>
          <a:xfrm>
            <a:off x="6172200" y="3730752"/>
            <a:ext cx="5669280" cy="265176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63" name="s663"/>
          <p:cNvSpPr>
            <a:spLocks noGrp="1"/>
          </p:cNvSpPr>
          <p:nvPr/>
        </p:nvSpPr>
        <p:spPr>
          <a:xfrm>
            <a:off x="6172200" y="3730752"/>
            <a:ext cx="566928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75" name="TextBox 674"/>
          <p:cNvSpPr txBox="1"/>
          <p:nvPr/>
        </p:nvSpPr>
        <p:spPr>
          <a:xfrm>
            <a:off x="6281928" y="3803904"/>
            <a:ext cx="5449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One-Click Destroy Workflow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6309360" y="4142232"/>
            <a:ext cx="5440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00" b="0">
                <a:solidFill>
                  <a:srgbClr val="CDD7E8"/>
                </a:solidFill>
                <a:latin typeface="Calibri"/>
              </a:rPr>
              <a:t>▶  terraform-destroy.yml  (workflow_dispatch  with confirm='destroy')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CDD7E8"/>
                </a:solidFill>
                <a:latin typeface="Calibri"/>
              </a:rPr>
              <a:t>▶  2-phase approach to avoid orphaned AWS resources: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Phase 1: scale down ArgoCD app-controller  →  kubectl delete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         all Ingress + LB services  →  wait for ALBs to drain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         (LBC-managed ALBs would block VPC destroy otherwise)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AAB9D2"/>
                </a:solidFill>
                <a:latin typeface="Calibri"/>
              </a:rPr>
              <a:t>    •  Phase 2: terraform destroy  (VPC tears down cleanly)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CDD7E8"/>
                </a:solidFill>
                <a:latin typeface="Calibri"/>
              </a:rPr>
              <a:t>▶  Gated by GitHub  'production'  Environment  (required reviewers)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CDD7E8"/>
                </a:solidFill>
                <a:latin typeface="Calibri"/>
              </a:rPr>
              <a:t>▶  ECR module: force_delete=true  (empties repos on destroy)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64" name="s664"/>
          <p:cNvSpPr>
            <a:spLocks noGrp="1"/>
          </p:cNvSpPr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000000"/>
          </a:solidFill>
          <a:ln w="31750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65" name="TextBox 664"/>
          <p:cNvSpPr txBox="1"/>
          <p:nvPr/>
        </p:nvSpPr>
        <p:spPr>
          <a:xfrm>
            <a:off x="914400" y="12801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05050"/>
                </a:solidFill>
                <a:latin typeface="Calibri"/>
              </a:rPr>
              <a:t>[ Screenshot / Diagram Placeholder ]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548640" y="228600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CA2"/>
                </a:solidFill>
                <a:latin typeface="Calibri"/>
              </a:rPr>
              <a:t>Infracost Cost Estimate</a:t>
            </a:r>
          </a:p>
        </p:txBody>
      </p:sp>
      <p:sp>
        <p:nvSpPr>
          <p:cNvPr id="667" name="TextBox 666"/>
          <p:cNvSpPr txBox="1"/>
          <p:nvPr/>
        </p:nvSpPr>
        <p:spPr>
          <a:xfrm>
            <a:off x="1371600" y="457200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6464"/>
                </a:solidFill>
                <a:latin typeface="Calibri"/>
              </a:rPr>
              <a:t>Show: PR comment with monthly cost estimate per resource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E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65" name="s665"/>
          <p:cNvSpPr>
            <a:spLocks noGrp="1"/>
          </p:cNvSpPr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9114"/>
          </a:solidFill>
          <a:ln>
            <a:noFill/>
          </a:ln>
        </p:spPr>
        <p:txBody>
          <a:bodyPr/>
          <a:lstStyle/>
          <a:p/>
        </p:txBody>
      </p:sp>
      <p:sp>
        <p:nvSpPr>
          <p:cNvPr id="666" name="TextBox 665"/>
          <p:cNvSpPr txBox="1"/>
          <p:nvPr/>
        </p:nvSpPr>
        <p:spPr>
          <a:xfrm>
            <a:off x="457200" y="8229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005A57"/>
                </a:solidFill>
                <a:latin typeface="Calibri"/>
              </a:rPr>
              <a:t>06</a:t>
            </a:r>
          </a:p>
        </p:txBody>
      </p:sp>
      <p:sp>
        <p:nvSpPr>
          <p:cNvPr id="667" name="TextBox 666"/>
          <p:cNvSpPr txBox="1"/>
          <p:nvPr/>
        </p:nvSpPr>
        <p:spPr>
          <a:xfrm>
            <a:off x="502920" y="24688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Security &amp; Results</a:t>
            </a:r>
          </a:p>
        </p:txBody>
      </p:sp>
      <p:sp>
        <p:nvSpPr>
          <p:cNvPr id="668" name="TextBox 667"/>
          <p:cNvSpPr txBox="1"/>
          <p:nvPr/>
        </p:nvSpPr>
        <p:spPr>
          <a:xfrm>
            <a:off x="502920" y="4251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3EEEA"/>
                </a:solidFill>
                <a:latin typeface="Calibri"/>
              </a:rPr>
              <a:t>Zero static credentials end-to-end  |  Platform achievements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66" name="s666"/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67" name="s667"/>
          <p:cNvSpPr>
            <a:spLocks noGrp="1"/>
          </p:cNvSpPr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06E6B"/>
          </a:solidFill>
          <a:ln>
            <a:noFill/>
          </a:ln>
        </p:spPr>
        <p:txBody>
          <a:bodyPr/>
          <a:lstStyle/>
          <a:p/>
        </p:txBody>
      </p:sp>
      <p:sp>
        <p:nvSpPr>
          <p:cNvPr id="668" name="TextBox 667"/>
          <p:cNvSpPr txBox="1"/>
          <p:nvPr/>
        </p:nvSpPr>
        <p:spPr>
          <a:xfrm>
            <a:off x="32004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Security — End to End</a:t>
            </a:r>
          </a:p>
        </p:txBody>
      </p:sp>
      <p:sp>
        <p:nvSpPr>
          <p:cNvPr id="668" name="s668"/>
          <p:cNvSpPr>
            <a:spLocks noGrp="1"/>
          </p:cNvSpPr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80E2A"/>
          </a:solidFill>
          <a:ln>
            <a:noFill/>
          </a:ln>
        </p:spPr>
        <p:txBody>
          <a:bodyPr/>
          <a:lstStyle/>
          <a:p/>
        </p:txBody>
      </p:sp>
      <p:sp>
        <p:nvSpPr>
          <p:cNvPr id="669" name="TextBox 668"/>
          <p:cNvSpPr txBox="1"/>
          <p:nvPr/>
        </p:nvSpPr>
        <p:spPr>
          <a:xfrm>
            <a:off x="32004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65F91"/>
                </a:solidFill>
                <a:latin typeface="Calibri"/>
              </a:rPr>
              <a:t>LabLumen  |  Cloud Native Microservices Platform  |  DevOps Capstone 2026</a:t>
            </a:r>
          </a:p>
        </p:txBody>
      </p:sp>
      <p:sp>
        <p:nvSpPr>
          <p:cNvPr id="669" name="s669"/>
          <p:cNvSpPr>
            <a:spLocks noGrp="1"/>
          </p:cNvSpPr>
          <p:nvPr/>
        </p:nvSpPr>
        <p:spPr>
          <a:xfrm>
            <a:off x="320040" y="1124712"/>
            <a:ext cx="5623560" cy="251460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70" name="s670"/>
          <p:cNvSpPr>
            <a:spLocks noGrp="1"/>
          </p:cNvSpPr>
          <p:nvPr/>
        </p:nvSpPr>
        <p:spPr>
          <a:xfrm>
            <a:off x="320040" y="1124712"/>
            <a:ext cx="562356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71" name="TextBox 670"/>
          <p:cNvSpPr txBox="1"/>
          <p:nvPr/>
        </p:nvSpPr>
        <p:spPr>
          <a:xfrm>
            <a:off x="429768" y="1197864"/>
            <a:ext cx="54041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Zero Static Credentials</a:t>
            </a:r>
          </a:p>
        </p:txBody>
      </p:sp>
      <p:sp>
        <p:nvSpPr>
          <p:cNvPr id="672" name="TextBox 671"/>
          <p:cNvSpPr txBox="1"/>
          <p:nvPr/>
        </p:nvSpPr>
        <p:spPr>
          <a:xfrm>
            <a:off x="457200" y="1536192"/>
            <a:ext cx="5440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CI authenticates to AWS via GitHub OIDC  (no access keys in secrets)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Pods authenticate to AWS via IRSA  (ServiceAccount-bound IAM roles)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Config + secrets pulled at runtime by ESO  (Secrets Manager + SSM)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No secrets in Git — Trivy and SonarCloud enforce this on every PR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KMS CMK encrypts ECR image layers and Secrets Manager values</a:t>
            </a:r>
          </a:p>
        </p:txBody>
      </p:sp>
      <p:sp>
        <p:nvSpPr>
          <p:cNvPr id="671" name="s671"/>
          <p:cNvSpPr>
            <a:spLocks noGrp="1"/>
          </p:cNvSpPr>
          <p:nvPr/>
        </p:nvSpPr>
        <p:spPr>
          <a:xfrm>
            <a:off x="320040" y="3776472"/>
            <a:ext cx="5623560" cy="260604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72" name="s672"/>
          <p:cNvSpPr>
            <a:spLocks noGrp="1"/>
          </p:cNvSpPr>
          <p:nvPr/>
        </p:nvSpPr>
        <p:spPr>
          <a:xfrm>
            <a:off x="320040" y="3776472"/>
            <a:ext cx="562356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73" name="TextBox 672"/>
          <p:cNvSpPr txBox="1"/>
          <p:nvPr/>
        </p:nvSpPr>
        <p:spPr>
          <a:xfrm>
            <a:off x="429768" y="3849624"/>
            <a:ext cx="54041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Code &amp; Container Security</a:t>
            </a:r>
          </a:p>
        </p:txBody>
      </p:sp>
      <p:sp>
        <p:nvSpPr>
          <p:cNvPr id="674" name="TextBox 673"/>
          <p:cNvSpPr txBox="1"/>
          <p:nvPr/>
        </p:nvSpPr>
        <p:spPr>
          <a:xfrm>
            <a:off x="457200" y="4187952"/>
            <a:ext cx="5440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SAST: SonarCloud quality gate blocks PR merge on findings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SCA: Snyk hard-fails on high-severity dependency vulnerabilities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Container: Trivy  CRITICAL/HIGH  blocks PR gate and pre-ECR-push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IaC: Checkov SARIF uploaded to GitHub Security tab on every push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Multistage Dockerfiles  —  slim runtime image, non-root UID 10001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Dependency upgrades in runtime stage  (apt upgrade)  clear fixable CVEs</a:t>
            </a:r>
          </a:p>
        </p:txBody>
      </p:sp>
      <p:sp>
        <p:nvSpPr>
          <p:cNvPr id="673" name="s673"/>
          <p:cNvSpPr>
            <a:spLocks noGrp="1"/>
          </p:cNvSpPr>
          <p:nvPr/>
        </p:nvSpPr>
        <p:spPr>
          <a:xfrm>
            <a:off x="5989320" y="1124712"/>
            <a:ext cx="5897880" cy="251460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74" name="s674"/>
          <p:cNvSpPr>
            <a:spLocks noGrp="1"/>
          </p:cNvSpPr>
          <p:nvPr/>
        </p:nvSpPr>
        <p:spPr>
          <a:xfrm>
            <a:off x="5989320" y="1124712"/>
            <a:ext cx="589788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75" name="TextBox 674"/>
          <p:cNvSpPr txBox="1"/>
          <p:nvPr/>
        </p:nvSpPr>
        <p:spPr>
          <a:xfrm>
            <a:off x="6099048" y="1197864"/>
            <a:ext cx="5678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Runtime &amp; Network Security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6126480" y="1536192"/>
            <a:ext cx="56235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readOnlyRootFilesystem + drop ALL capabilities on every pod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seccompProfile: RuntimeDefault  (kernel syscall filtering)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RDS in isolated database subnets  —  no public endpoint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S3 reports bucket: KMS-encrypted, versioned, private  (no public access)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Direct push to main blocked  —  branch protection + required PRs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automountServiceAccountToken: false  on all pods</a:t>
            </a:r>
          </a:p>
        </p:txBody>
      </p:sp>
      <p:sp>
        <p:nvSpPr>
          <p:cNvPr id="675" name="s675"/>
          <p:cNvSpPr>
            <a:spLocks noGrp="1"/>
          </p:cNvSpPr>
          <p:nvPr/>
        </p:nvSpPr>
        <p:spPr>
          <a:xfrm>
            <a:off x="5989320" y="3776472"/>
            <a:ext cx="5897880" cy="260604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76" name="s676"/>
          <p:cNvSpPr>
            <a:spLocks noGrp="1"/>
          </p:cNvSpPr>
          <p:nvPr/>
        </p:nvSpPr>
        <p:spPr>
          <a:xfrm>
            <a:off x="5989320" y="3776472"/>
            <a:ext cx="589788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77" name="TextBox 676"/>
          <p:cNvSpPr txBox="1"/>
          <p:nvPr/>
        </p:nvSpPr>
        <p:spPr>
          <a:xfrm>
            <a:off x="6099048" y="3849624"/>
            <a:ext cx="5678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Security Gate Summary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6126480" y="4187952"/>
            <a:ext cx="5623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No hardcoded credentials in any file or git history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Container does not run as root  (UID 10001)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Multistage Docker builds  (separate builder + runtime)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Container image scanned before PR merge and before ECR push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Secrets in Kubernetes via ExternalSecret  (not ConfigMaps or env literals)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RBAC: ServiceAccount has minimal IAM permissions  (least-privilege IRSA)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.gitignore excludes *.tfstate, .env, credentials files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77" name="s677"/>
          <p:cNvSpPr>
            <a:spLocks noGrp="1"/>
          </p:cNvSpPr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78" name="s678"/>
          <p:cNvSpPr>
            <a:spLocks noGrp="1"/>
          </p:cNvSpPr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06E6B"/>
          </a:solidFill>
          <a:ln>
            <a:noFill/>
          </a:ln>
        </p:spPr>
        <p:txBody>
          <a:bodyPr/>
          <a:lstStyle/>
          <a:p/>
        </p:txBody>
      </p:sp>
      <p:sp>
        <p:nvSpPr>
          <p:cNvPr id="679" name="TextBox 678"/>
          <p:cNvSpPr txBox="1"/>
          <p:nvPr/>
        </p:nvSpPr>
        <p:spPr>
          <a:xfrm>
            <a:off x="32004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Platform Achievements</a:t>
            </a:r>
          </a:p>
        </p:txBody>
      </p:sp>
      <p:sp>
        <p:nvSpPr>
          <p:cNvPr id="679" name="s679"/>
          <p:cNvSpPr>
            <a:spLocks noGrp="1"/>
          </p:cNvSpPr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80E2A"/>
          </a:solidFill>
          <a:ln>
            <a:noFill/>
          </a:ln>
        </p:spPr>
        <p:txBody>
          <a:bodyPr/>
          <a:lstStyle/>
          <a:p/>
        </p:txBody>
      </p:sp>
      <p:sp>
        <p:nvSpPr>
          <p:cNvPr id="680" name="TextBox 679"/>
          <p:cNvSpPr txBox="1"/>
          <p:nvPr/>
        </p:nvSpPr>
        <p:spPr>
          <a:xfrm>
            <a:off x="32004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65F91"/>
                </a:solidFill>
                <a:latin typeface="Calibri"/>
              </a:rPr>
              <a:t>LabLumen  |  Cloud Native Microservices Platform  |  DevOps Capstone 2026</a:t>
            </a:r>
          </a:p>
        </p:txBody>
      </p:sp>
      <p:sp>
        <p:nvSpPr>
          <p:cNvPr id="680" name="s680"/>
          <p:cNvSpPr>
            <a:spLocks noGrp="1"/>
          </p:cNvSpPr>
          <p:nvPr/>
        </p:nvSpPr>
        <p:spPr>
          <a:xfrm>
            <a:off x="320040" y="1124712"/>
            <a:ext cx="5532120" cy="251460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81" name="s681"/>
          <p:cNvSpPr>
            <a:spLocks noGrp="1"/>
          </p:cNvSpPr>
          <p:nvPr/>
        </p:nvSpPr>
        <p:spPr>
          <a:xfrm>
            <a:off x="320040" y="1124712"/>
            <a:ext cx="553212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82" name="TextBox 681"/>
          <p:cNvSpPr txBox="1"/>
          <p:nvPr/>
        </p:nvSpPr>
        <p:spPr>
          <a:xfrm>
            <a:off x="429768" y="1197864"/>
            <a:ext cx="53126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Infrastructure</a:t>
            </a:r>
          </a:p>
        </p:txBody>
      </p:sp>
      <p:sp>
        <p:nvSpPr>
          <p:cNvPr id="683" name="TextBox 682"/>
          <p:cNvSpPr txBox="1"/>
          <p:nvPr/>
        </p:nvSpPr>
        <p:spPr>
          <a:xfrm>
            <a:off x="457200" y="1536192"/>
            <a:ext cx="5349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Full AWS stack  —  12 Terraform modules, remote S3 state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EKS v1.31 with Karpenter auto-scaling across 2 AZs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Multi-AZ VPC, RDS in isolated subnets, CloudFront SPA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OIDC + IRSA  —  zero static credentials end-to-end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All resources tagged: Environment + Owner</a:t>
            </a:r>
          </a:p>
        </p:txBody>
      </p:sp>
      <p:sp>
        <p:nvSpPr>
          <p:cNvPr id="682" name="s682"/>
          <p:cNvSpPr>
            <a:spLocks noGrp="1"/>
          </p:cNvSpPr>
          <p:nvPr/>
        </p:nvSpPr>
        <p:spPr>
          <a:xfrm>
            <a:off x="320040" y="3822192"/>
            <a:ext cx="5532120" cy="260604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83" name="s683"/>
          <p:cNvSpPr>
            <a:spLocks noGrp="1"/>
          </p:cNvSpPr>
          <p:nvPr/>
        </p:nvSpPr>
        <p:spPr>
          <a:xfrm>
            <a:off x="320040" y="3822192"/>
            <a:ext cx="553212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84" name="TextBox 683"/>
          <p:cNvSpPr txBox="1"/>
          <p:nvPr/>
        </p:nvSpPr>
        <p:spPr>
          <a:xfrm>
            <a:off x="429768" y="3895344"/>
            <a:ext cx="53126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Application</a:t>
            </a:r>
          </a:p>
        </p:txBody>
      </p:sp>
      <p:sp>
        <p:nvSpPr>
          <p:cNvPr id="685" name="TextBox 684"/>
          <p:cNvSpPr txBox="1"/>
          <p:nvPr/>
        </p:nvSpPr>
        <p:spPr>
          <a:xfrm>
            <a:off x="457200" y="4233672"/>
            <a:ext cx="5349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4 backend microservices + React frontend  (all containerised)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Event-driven: SQS decouples appointment from notification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AI pipeline: Textract + Bedrock + pgvector  (Lambda/SAM)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Cognito auth: separate patient + staff RBAC roles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RAG chat on lab reports  —  document-scoped pgvector search</a:t>
            </a:r>
          </a:p>
        </p:txBody>
      </p:sp>
      <p:sp>
        <p:nvSpPr>
          <p:cNvPr id="684" name="s684"/>
          <p:cNvSpPr>
            <a:spLocks noGrp="1"/>
          </p:cNvSpPr>
          <p:nvPr/>
        </p:nvSpPr>
        <p:spPr>
          <a:xfrm>
            <a:off x="5989320" y="1124712"/>
            <a:ext cx="5897880" cy="251460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85" name="s685"/>
          <p:cNvSpPr>
            <a:spLocks noGrp="1"/>
          </p:cNvSpPr>
          <p:nvPr/>
        </p:nvSpPr>
        <p:spPr>
          <a:xfrm>
            <a:off x="5989320" y="1124712"/>
            <a:ext cx="589788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86" name="TextBox 685"/>
          <p:cNvSpPr txBox="1"/>
          <p:nvPr/>
        </p:nvSpPr>
        <p:spPr>
          <a:xfrm>
            <a:off x="6099048" y="1197864"/>
            <a:ext cx="5678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DevOps</a:t>
            </a:r>
          </a:p>
        </p:txBody>
      </p:sp>
      <p:sp>
        <p:nvSpPr>
          <p:cNvPr id="687" name="TextBox 686"/>
          <p:cNvSpPr txBox="1"/>
          <p:nvPr/>
        </p:nvSpPr>
        <p:spPr>
          <a:xfrm>
            <a:off x="6126480" y="1536192"/>
            <a:ext cx="5623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Trunk-based + branch protection  (PR-only merges to main)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4-gate security pipeline on every PR  (SAST+SCA+Trivy+Ruff)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Build-once / promote-by-retag CD  (exact binary dev → prod)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GitOps: ArgoCD App-of-Apps, 16 apps Synced + Healthy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Prometheus + Grafana observability  (kube-prometheus-stack)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32C85A"/>
                </a:solidFill>
                <a:latin typeface="Calibri"/>
              </a:rPr>
              <a:t>✔  One-click destroy pipeline with 2-phase LBC cleanup</a:t>
            </a:r>
          </a:p>
        </p:txBody>
      </p:sp>
      <p:sp>
        <p:nvSpPr>
          <p:cNvPr id="686" name="s686"/>
          <p:cNvSpPr>
            <a:spLocks noGrp="1"/>
          </p:cNvSpPr>
          <p:nvPr/>
        </p:nvSpPr>
        <p:spPr>
          <a:xfrm>
            <a:off x="5989320" y="3822192"/>
            <a:ext cx="5897880" cy="260604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87" name="s687"/>
          <p:cNvSpPr>
            <a:spLocks noGrp="1"/>
          </p:cNvSpPr>
          <p:nvPr/>
        </p:nvSpPr>
        <p:spPr>
          <a:xfrm>
            <a:off x="5989320" y="3822192"/>
            <a:ext cx="589788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88" name="TextBox 687"/>
          <p:cNvSpPr txBox="1"/>
          <p:nvPr/>
        </p:nvSpPr>
        <p:spPr>
          <a:xfrm>
            <a:off x="6099048" y="3895344"/>
            <a:ext cx="5678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Bonus Pillars Achieved  (each = +5%)</a:t>
            </a:r>
          </a:p>
        </p:txBody>
      </p:sp>
      <p:sp>
        <p:nvSpPr>
          <p:cNvPr id="689" name="TextBox 688"/>
          <p:cNvSpPr txBox="1"/>
          <p:nvPr/>
        </p:nvSpPr>
        <p:spPr>
          <a:xfrm>
            <a:off x="6126480" y="4233672"/>
            <a:ext cx="5623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100" b="0">
                <a:solidFill>
                  <a:srgbClr val="FF9114"/>
                </a:solidFill>
                <a:latin typeface="Calibri"/>
              </a:rPr>
              <a:t>★  Event-Driven Architecture  —  SQS (appointment → notification)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9114"/>
                </a:solidFill>
                <a:latin typeface="Calibri"/>
              </a:rPr>
              <a:t>★  AI / ML Integration  —  Bedrock + Textract + pgvector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9114"/>
                </a:solidFill>
                <a:latin typeface="Calibri"/>
              </a:rPr>
              <a:t>★  Advanced Monitoring  —  Prometheus + Grafana + Alertmanager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9114"/>
                </a:solidFill>
                <a:latin typeface="Calibri"/>
              </a:rPr>
              <a:t>★  GitOps Deployment  —  ArgoCD  (App-of-Apps, 16 apps)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9114"/>
                </a:solidFill>
                <a:latin typeface="Calibri"/>
              </a:rPr>
              <a:t>★  Cost Estimation  —  Infracost on every terraform plan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88" name="s688"/>
          <p:cNvSpPr>
            <a:spLocks noGrp="1"/>
          </p:cNvSpPr>
          <p:nvPr/>
        </p:nvSpPr>
        <p:spPr>
          <a:xfrm>
            <a:off x="0" y="1645920"/>
            <a:ext cx="12191695" cy="3657600"/>
          </a:xfrm>
          <a:prstGeom prst="rect">
            <a:avLst/>
          </a:prstGeom>
          <a:solidFill>
            <a:srgbClr val="0E1A46"/>
          </a:solidFill>
          <a:ln>
            <a:noFill/>
          </a:ln>
        </p:spPr>
        <p:txBody>
          <a:bodyPr/>
          <a:lstStyle/>
          <a:p/>
        </p:txBody>
      </p:sp>
      <p:sp>
        <p:nvSpPr>
          <p:cNvPr id="689" name="s689"/>
          <p:cNvSpPr>
            <a:spLocks noGrp="1"/>
          </p:cNvSpPr>
          <p:nvPr/>
        </p:nvSpPr>
        <p:spPr>
          <a:xfrm>
            <a:off x="0" y="1645920"/>
            <a:ext cx="91440" cy="3657600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90" name="s690"/>
          <p:cNvSpPr>
            <a:spLocks noGrp="1"/>
          </p:cNvSpPr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911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1" name="TextBox 690"/>
          <p:cNvSpPr txBox="1"/>
          <p:nvPr/>
        </p:nvSpPr>
        <p:spPr>
          <a:xfrm>
            <a:off x="914400" y="182880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ACA2"/>
                </a:solidFill>
                <a:latin typeface="Calibri"/>
              </a:rPr>
              <a:t>Questions?</a:t>
            </a:r>
          </a:p>
        </p:txBody>
      </p:sp>
      <p:sp>
        <p:nvSpPr>
          <p:cNvPr id="691" name="s691"/>
          <p:cNvSpPr>
            <a:spLocks noGrp="1"/>
          </p:cNvSpPr>
          <p:nvPr/>
        </p:nvSpPr>
        <p:spPr>
          <a:xfrm>
            <a:off x="914400" y="3977639"/>
            <a:ext cx="365760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92" name="s692"/>
          <p:cNvSpPr>
            <a:spLocks noGrp="1"/>
          </p:cNvSpPr>
          <p:nvPr/>
        </p:nvSpPr>
        <p:spPr>
          <a:xfrm>
            <a:off x="6858000" y="1920240"/>
            <a:ext cx="4937760" cy="1874519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93" name="s693"/>
          <p:cNvSpPr>
            <a:spLocks noGrp="1"/>
          </p:cNvSpPr>
          <p:nvPr/>
        </p:nvSpPr>
        <p:spPr>
          <a:xfrm>
            <a:off x="6858000" y="1920240"/>
            <a:ext cx="493776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94" name="TextBox 693"/>
          <p:cNvSpPr txBox="1"/>
          <p:nvPr/>
        </p:nvSpPr>
        <p:spPr>
          <a:xfrm>
            <a:off x="6967728" y="1993392"/>
            <a:ext cx="4718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Repositories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6995160" y="22860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000" b="0">
                <a:solidFill>
                  <a:srgbClr val="78E1D7"/>
                </a:solidFill>
                <a:latin typeface="Courier New"/>
              </a:rPr>
              <a:t>lablumen/lablumen-terraform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78E1D7"/>
                </a:solidFill>
                <a:latin typeface="Courier New"/>
              </a:rPr>
              <a:t>lablumen/lablumen-k8s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78E1D7"/>
                </a:solidFill>
                <a:latin typeface="Courier New"/>
              </a:rPr>
              <a:t>lablumen/lablumen-shared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78E1D7"/>
                </a:solidFill>
                <a:latin typeface="Courier New"/>
              </a:rPr>
              <a:t>lablumen/lablumen-*-service</a:t>
            </a:r>
          </a:p>
        </p:txBody>
      </p:sp>
      <p:sp>
        <p:nvSpPr>
          <p:cNvPr id="694" name="s694"/>
          <p:cNvSpPr>
            <a:spLocks noGrp="1"/>
          </p:cNvSpPr>
          <p:nvPr/>
        </p:nvSpPr>
        <p:spPr>
          <a:xfrm>
            <a:off x="6858000" y="3931920"/>
            <a:ext cx="4937760" cy="2148840"/>
          </a:xfrm>
          <a:prstGeom prst="rect">
            <a:avLst/>
          </a:prstGeom>
          <a:solidFill>
            <a:srgbClr val="101C44"/>
          </a:solidFill>
          <a:ln w="9525">
            <a:solidFill>
              <a:srgbClr val="00ACA2"/>
            </a:solidFill>
          </a:ln>
        </p:spPr>
        <p:txBody>
          <a:bodyPr/>
          <a:lstStyle/>
          <a:p/>
        </p:txBody>
      </p:sp>
      <p:sp>
        <p:nvSpPr>
          <p:cNvPr id="695" name="s695"/>
          <p:cNvSpPr>
            <a:spLocks noGrp="1"/>
          </p:cNvSpPr>
          <p:nvPr/>
        </p:nvSpPr>
        <p:spPr>
          <a:xfrm>
            <a:off x="6858000" y="3931920"/>
            <a:ext cx="4937760" cy="32004"/>
          </a:xfrm>
          <a:prstGeom prst="rect">
            <a:avLst/>
          </a:prstGeom>
          <a:solidFill>
            <a:srgbClr val="00A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96" name="TextBox 695"/>
          <p:cNvSpPr txBox="1"/>
          <p:nvPr/>
        </p:nvSpPr>
        <p:spPr>
          <a:xfrm>
            <a:off x="6967728" y="4005072"/>
            <a:ext cx="4718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CA2"/>
                </a:solidFill>
                <a:latin typeface="Calibri"/>
              </a:rPr>
              <a:t>Live Endpoints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6995160" y="42976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000" b="0">
                <a:solidFill>
                  <a:srgbClr val="78E1D7"/>
                </a:solidFill>
                <a:latin typeface="Courier New"/>
              </a:rPr>
              <a:t>api.rnld101.xyz          (prod API)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78E1D7"/>
                </a:solidFill>
                <a:latin typeface="Courier New"/>
              </a:rPr>
              <a:t>api-dev.rnld101.xyz   (dev API)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78E1D7"/>
                </a:solidFill>
                <a:latin typeface="Courier New"/>
              </a:rPr>
              <a:t>argocd.rnld101.xyz    (ArgoCD UI)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78E1D7"/>
                </a:solidFill>
                <a:latin typeface="Courier New"/>
              </a:rPr>
              <a:t>grafana.rnld101.xyz  (Grafana)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78E1D7"/>
                </a:solidFill>
                <a:latin typeface="Courier New"/>
              </a:rPr>
              <a:t>app.rnld101.xyz         (Frontend SPA)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914400" y="4160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DAF"/>
                </a:solidFill>
                <a:latin typeface="Calibri"/>
              </a:rPr>
              <a:t>LabLumen  |  AWS EKS  |  GitOps  |  GitHub Actions  |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